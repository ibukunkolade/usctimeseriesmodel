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9F79B23-F705-4436-ACE7-018CA092DD60}">
  <a:tblStyle styleId="{59F79B23-F705-4436-ACE7-018CA092DD6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cc2da7e84b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cc2da7e84b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cabcaaba7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cabcaaba7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Motivation</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COVID-19 pandemic played an impactful role in all our lives, forcing us into social quarantine, and had deep consequences at a global economic level. To prepare for this quarantine, if you remember, there was a crazy period of people buying up toilet paper in bulk at supermarkets in the U.S. Thus, </a:t>
            </a:r>
            <a:endParaRPr sz="1400">
              <a:solidFill>
                <a:schemeClr val="dk1"/>
              </a:solidFill>
            </a:endParaRPr>
          </a:p>
          <a:p>
            <a:pPr indent="-317500" lvl="0" marL="457200" rtl="0" algn="l">
              <a:lnSpc>
                <a:spcPct val="115000"/>
              </a:lnSpc>
              <a:spcBef>
                <a:spcPts val="1200"/>
              </a:spcBef>
              <a:spcAft>
                <a:spcPts val="0"/>
              </a:spcAft>
              <a:buClr>
                <a:schemeClr val="dk1"/>
              </a:buClr>
              <a:buSzPts val="1400"/>
              <a:buAutoNum type="arabicPeriod"/>
            </a:pPr>
            <a:r>
              <a:rPr lang="en" sz="1400">
                <a:solidFill>
                  <a:schemeClr val="dk1"/>
                </a:solidFill>
              </a:rPr>
              <a:t>In 2020, inflation happened due to problems like backlogs of work orders for goods and serviced caused by supply chain issues due to COVID-19, amongst others like volatility of energy prices etc.</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So, to do deal with this inflationary surge, at each meeting from March 2022 to May 2023, the FOMC (Federal Open Market Committee) raised the target range for the federal funds rate. The initially increase was 25 basis points, but subsequent moves were larger, including increasing the target range by 75 basis points at each of the June, July, September, and November 2022 meetings.</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As the market anticipated an end to rate hikes and expectations of Fed rate cuts grew, the stock market soared in 2023.</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So how is any of this related to VIX? The VIX Index is a calculation designed to produce a measure of constant, 30-day expected volatility of the U.S. stock market, derived from real-time, mid-quote prices of S&amp;P 500® Index (SPX℠) call and put options. It is essentially a metric that gauges whether investors are scared.</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Our research shows that VIX is largely influenced by market implied inflation.</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Instead of deep dive into structural breaks (2008 Financial Crisis and 2020 Covid Pandemic), we put them under control, so we are able to evaluate the relation between VIX and inflation.</a:t>
            </a:r>
            <a:endParaRPr sz="1400">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ccefc0cb1f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ccefc0cb1f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Literature Review</a:t>
            </a:r>
            <a:endParaRPr sz="1400">
              <a:solidFill>
                <a:schemeClr val="dk1"/>
              </a:solidFill>
            </a:endParaRPr>
          </a:p>
          <a:p>
            <a:pPr indent="-317500" lvl="0" marL="457200" rtl="0" algn="l">
              <a:lnSpc>
                <a:spcPct val="115000"/>
              </a:lnSpc>
              <a:spcBef>
                <a:spcPts val="1200"/>
              </a:spcBef>
              <a:spcAft>
                <a:spcPts val="0"/>
              </a:spcAft>
              <a:buClr>
                <a:schemeClr val="dk1"/>
              </a:buClr>
              <a:buSzPts val="1400"/>
              <a:buAutoNum type="arabicPeriod"/>
            </a:pPr>
            <a:r>
              <a:rPr lang="en" sz="1400">
                <a:solidFill>
                  <a:schemeClr val="dk1"/>
                </a:solidFill>
              </a:rPr>
              <a:t>Tests indicate a significant inverse relationship between VIX and, particularly, the 5-year breakeven inflation, which holds mainly during the recent financial crisis and the post-crisis periods. (Soper, C.C., 2017)</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Researchers found the VIX had a positive effect on inflation in the next period in South Africa and as market volatility increased, its effect also increased. (Burger, P., 2014)</a:t>
            </a:r>
            <a:endParaRPr sz="1400">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lang="en" sz="1400">
                <a:solidFill>
                  <a:schemeClr val="dk1"/>
                </a:solidFill>
              </a:rPr>
              <a:t>This paper found evidence that </a:t>
            </a:r>
            <a:r>
              <a:rPr b="1" lang="en" sz="1400">
                <a:solidFill>
                  <a:schemeClr val="dk1"/>
                </a:solidFill>
              </a:rPr>
              <a:t>i</a:t>
            </a:r>
            <a:r>
              <a:rPr lang="en" sz="1400">
                <a:solidFill>
                  <a:schemeClr val="dk1"/>
                </a:solidFill>
              </a:rPr>
              <a:t>nflation volatility can help predict VIX volatility. There was stronger evidence that financial asset volatility helps to predict future inflation volatility. This suggests Bidirectional Causality which is a reason for why we opted for VAR model selection. (Schwert G.W., 1989)</a:t>
            </a:r>
            <a:endParaRPr sz="14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400">
                <a:solidFill>
                  <a:schemeClr val="dk1"/>
                </a:solidFill>
              </a:rPr>
              <a:t>Our research showed there were three exogenous variables we wanted to consider which also impacted VIX Prices and inflation:</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Federal Funds Rate</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This paper investigated the impact of Fed’s monetary policy on the VIX Index and found that the Fed’s policy decisions significantly affected stock market uncertainty. Particularly, following the FOMC meeting, implied volatility decreased. However, the federal funds rate surprises were positively related to market uncertainty.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We also know, the federal finds rate is related to inflation as one of the primary objectives of monetary policy is to control inflation.</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Unemployment Rate</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Paper finds that the highest probability of a significant change in the VIX level is caused by the change in “U.S. Unemployment Rate”. It also finds a relation to the variable based on the error of analysts’ forecasts within the scope of U.S. GDP. </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We also know, inflation and Unemployment Rate have an inverse relationship as suggested by Phillips Curve.</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GDP</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Analyses the role of macroeconomic and financial determinants in explaining stock market volatilities in the U.S. market. In particular, positive implied volatility is driven more by macro variables such as inflation and GDP.</a:t>
            </a:r>
            <a:endParaRPr sz="14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400">
                <a:solidFill>
                  <a:schemeClr val="dk1"/>
                </a:solidFill>
              </a:rPr>
              <a:t>Inflation and GDP have a complex relationship depending on different schools of thought like Keynesian, neoclassical etc.</a:t>
            </a:r>
            <a:endParaRPr sz="14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cabcaaba7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cabcaaba7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Avi</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cc2da7e84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cc2da7e84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2cc2da7e84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2cc2da7e84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Avi</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caaef2150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caaef2150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cbcbf431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cbcbf431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cb004be94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cb004be94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cbcbf43190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cbcbf43190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bcbf43190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cbcbf43190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cbcbf43190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2cbcbf43190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cbcbf43190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cbcbf43190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2cbcbf43190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2cbcbf43190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2ccefc0cb1f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2ccefc0cb1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cbcbf43190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cbcbf43190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cbcbf43190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cbcbf43190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Avi</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cabcaaba7b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cabcaaba7b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Followed by stability test and granger causality test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2cabcaaba7b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2cabcaaba7b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VAR (VS) VARMA (VS) VMA</a:t>
            </a:r>
            <a:endParaRPr/>
          </a:p>
          <a:p>
            <a:pPr indent="-298450" lvl="1" marL="914400" rtl="0" algn="l">
              <a:spcBef>
                <a:spcPts val="0"/>
              </a:spcBef>
              <a:spcAft>
                <a:spcPts val="0"/>
              </a:spcAft>
              <a:buSzPts val="1100"/>
              <a:buChar char="-"/>
            </a:pPr>
            <a:r>
              <a:rPr lang="en"/>
              <a:t>VAR gives the lowest In sample and out of sample RMSE for inflation</a:t>
            </a:r>
            <a:endParaRPr/>
          </a:p>
          <a:p>
            <a:pPr indent="-298450" lvl="1" marL="914400" rtl="0" algn="l">
              <a:spcBef>
                <a:spcPts val="0"/>
              </a:spcBef>
              <a:spcAft>
                <a:spcPts val="0"/>
              </a:spcAft>
              <a:buSzPts val="1100"/>
              <a:buChar char="-"/>
            </a:pPr>
            <a:r>
              <a:rPr lang="en"/>
              <a:t>VMA and VARMA give the lowest out of sample RMSE for VIX price</a:t>
            </a:r>
            <a:endParaRPr/>
          </a:p>
          <a:p>
            <a:pPr indent="-298450" lvl="0" marL="457200" rtl="0" algn="l">
              <a:spcBef>
                <a:spcPts val="0"/>
              </a:spcBef>
              <a:spcAft>
                <a:spcPts val="0"/>
              </a:spcAft>
              <a:buSzPts val="1100"/>
              <a:buChar char="-"/>
            </a:pPr>
            <a:r>
              <a:rPr lang="en"/>
              <a:t>On average, VAR(2) with binary variables gives us a balanced performance taking into account RMSE for both variables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2cc83f1070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2cc83f1070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a:t>VAR (VS) VARMA (VS) VMA</a:t>
            </a:r>
            <a:endParaRPr/>
          </a:p>
          <a:p>
            <a:pPr indent="-298450" lvl="1" marL="914400" rtl="0" algn="l">
              <a:spcBef>
                <a:spcPts val="0"/>
              </a:spcBef>
              <a:spcAft>
                <a:spcPts val="0"/>
              </a:spcAft>
              <a:buSzPts val="1100"/>
              <a:buChar char="-"/>
            </a:pPr>
            <a:r>
              <a:rPr lang="en"/>
              <a:t>VAR gives the lowest In sample and out of sample RMSE for inflation</a:t>
            </a:r>
            <a:endParaRPr/>
          </a:p>
          <a:p>
            <a:pPr indent="-298450" lvl="1" marL="914400" rtl="0" algn="l">
              <a:spcBef>
                <a:spcPts val="0"/>
              </a:spcBef>
              <a:spcAft>
                <a:spcPts val="0"/>
              </a:spcAft>
              <a:buSzPts val="1100"/>
              <a:buChar char="-"/>
            </a:pPr>
            <a:r>
              <a:rPr lang="en"/>
              <a:t>VMA and VARMA give the lowest out of sample RMSE for VIX price</a:t>
            </a:r>
            <a:endParaRPr/>
          </a:p>
          <a:p>
            <a:pPr indent="-298450" lvl="0" marL="457200" rtl="0" algn="l">
              <a:spcBef>
                <a:spcPts val="0"/>
              </a:spcBef>
              <a:spcAft>
                <a:spcPts val="0"/>
              </a:spcAft>
              <a:buSzPts val="1100"/>
              <a:buChar char="-"/>
            </a:pPr>
            <a:r>
              <a:rPr lang="en"/>
              <a:t>On average, VAR(2) with binary variables gives us a balanced performance taking into account RMSE for both variables</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6e9dc3b176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6e9dc3b176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cabcaaba7b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2cabcaaba7b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None of our models showed any signs of granger causality. All were stable so no explosive processes, or cointegration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Granger causality means that the </a:t>
            </a:r>
            <a:r>
              <a:rPr lang="en"/>
              <a:t>variable isn’t useful for forecasting.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Model </a:t>
            </a:r>
            <a:r>
              <a:rPr lang="en"/>
              <a:t>performance</a:t>
            </a:r>
            <a:r>
              <a:rPr lang="en"/>
              <a:t> visual</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2cb6dadda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2cb6dadda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Level trend, bad </a:t>
            </a:r>
            <a:r>
              <a:rPr lang="en"/>
              <a:t>performance</a:t>
            </a:r>
            <a:r>
              <a:rPr lang="en"/>
              <a:t> on vix</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6e9dc3b17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6e9dc3b17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Worst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Lesson: dont just throw the economy into a linear model and hope it does well</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6e9dc3b17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26e9dc3b17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a:t>
            </a:r>
            <a:r>
              <a:rPr lang="en"/>
              <a:t>bukun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cbc4743c1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cbc4743c1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95% confidence error bands, </a:t>
            </a:r>
            <a:r>
              <a:rPr lang="en"/>
              <a:t>Asymptotic. More on that later.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Negative to positive. No significant difference from zero</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cbc4743c1d_2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cbc4743c1d_2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Negative. Again no significance in either</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2cbc4743c1d_2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2cbc4743c1d_2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shocks to inflation seem to dissipate quickly. Result of federal reserves efforts perhaps</a:t>
            </a:r>
            <a:endParaRPr/>
          </a:p>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cbc4743c1d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cbc4743c1d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Large shocks to VIX remain relevant for </a:t>
            </a:r>
            <a:r>
              <a:rPr lang="en"/>
              <a:t>extended</a:t>
            </a:r>
            <a:r>
              <a:rPr lang="en"/>
              <a:t> periods. Shows that calming investors </a:t>
            </a:r>
            <a:r>
              <a:rPr lang="en"/>
              <a:t>negative</a:t>
            </a:r>
            <a:r>
              <a:rPr lang="en"/>
              <a:t> sentiments is very difficult due to persistence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26e9dc3b17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26e9dc3b17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the spirit of </a:t>
            </a:r>
            <a:r>
              <a:rPr lang="en"/>
              <a:t>being</a:t>
            </a:r>
            <a:r>
              <a:rPr lang="en"/>
              <a:t> good scientists, we feel it is important to mention this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defend the use of asymptotic standard errors for the following reasons: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marginal cost outweighed the gain during our research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Given we have 280 observations, we feel our sample size is large enough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Beyond </a:t>
            </a:r>
            <a:r>
              <a:rPr lang="en"/>
              <a:t>scope</a:t>
            </a:r>
            <a:r>
              <a:rPr lang="en"/>
              <a:t> of this </a:t>
            </a:r>
            <a:r>
              <a:rPr lang="en"/>
              <a:t>class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2cabcaaba7b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2cabcaaba7b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Ibukun</a:t>
            </a:r>
            <a:endParaRPr/>
          </a:p>
          <a:p>
            <a:pPr indent="0" lvl="0" marL="0" rtl="0" algn="l">
              <a:spcBef>
                <a:spcPts val="0"/>
              </a:spcBef>
              <a:spcAft>
                <a:spcPts val="0"/>
              </a:spcAft>
              <a:buNone/>
            </a:pPr>
            <a:r>
              <a:rPr lang="en"/>
              <a:t>Granularity of data (Effect may have smoothed out)</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Inherent linearity assumption may need to be relaxed. It might not be a good approximation in this case given that with financial data there are a lot of non linear relationships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Exchange raetes</a:t>
            </a:r>
            <a:endParaRPr/>
          </a:p>
          <a:p>
            <a:pPr indent="0" lvl="0" marL="0" rtl="0" algn="l">
              <a:spcBef>
                <a:spcPts val="0"/>
              </a:spcBef>
              <a:spcAft>
                <a:spcPts val="0"/>
              </a:spcAft>
              <a:buNone/>
            </a:pPr>
            <a:r>
              <a:rPr lang="en"/>
              <a:t>CRB commodities </a:t>
            </a:r>
            <a:endParaRPr/>
          </a:p>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2cca94cf1f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2cca94cf1f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3.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1.png"/><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3.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21.png"/><Relationship Id="rId6"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15.png"/><Relationship Id="rId5" Type="http://schemas.openxmlformats.org/officeDocument/2006/relationships/image" Target="../media/image18.png"/><Relationship Id="rId6"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4.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4.png"/><Relationship Id="rId4" Type="http://schemas.openxmlformats.org/officeDocument/2006/relationships/image" Target="../media/image17.png"/><Relationship Id="rId5"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2.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0.png"/><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Analyzing VIX and Inflation using Vector Autoregressive Methods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B</a:t>
            </a:r>
            <a:r>
              <a:rPr lang="en"/>
              <a:t>y Keman Du, Avi Jaiswal and Ibukun Kolad</a:t>
            </a:r>
            <a:r>
              <a:rPr lang="en"/>
              <a:t>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2676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911"/>
              <a:t>Overview</a:t>
            </a:r>
            <a:r>
              <a:rPr lang="en"/>
              <a:t> </a:t>
            </a:r>
            <a:endParaRPr/>
          </a:p>
        </p:txBody>
      </p:sp>
      <p:sp>
        <p:nvSpPr>
          <p:cNvPr id="61" name="Google Shape;61;p14"/>
          <p:cNvSpPr txBox="1"/>
          <p:nvPr>
            <p:ph idx="1" type="body"/>
          </p:nvPr>
        </p:nvSpPr>
        <p:spPr>
          <a:xfrm>
            <a:off x="311700" y="1305750"/>
            <a:ext cx="8520600" cy="31662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Char char="●"/>
            </a:pPr>
            <a:r>
              <a:rPr lang="en" sz="2000">
                <a:solidFill>
                  <a:schemeClr val="dk1"/>
                </a:solidFill>
              </a:rPr>
              <a:t>Motivation</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Literature Review</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Data Preparation</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Model Selection</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Results</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Conclusion and Improvements</a:t>
            </a:r>
            <a:endParaRPr sz="2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 </a:t>
            </a:r>
            <a:endParaRPr/>
          </a:p>
        </p:txBody>
      </p:sp>
      <p:sp>
        <p:nvSpPr>
          <p:cNvPr id="67" name="Google Shape;67;p15"/>
          <p:cNvSpPr txBox="1"/>
          <p:nvPr>
            <p:ph idx="1" type="body"/>
          </p:nvPr>
        </p:nvSpPr>
        <p:spPr>
          <a:xfrm>
            <a:off x="311700" y="1304075"/>
            <a:ext cx="8520600" cy="32649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Inflation </a:t>
            </a:r>
            <a:r>
              <a:rPr lang="en">
                <a:solidFill>
                  <a:schemeClr val="dk1"/>
                </a:solidFill>
              </a:rPr>
              <a:t>surged</a:t>
            </a:r>
            <a:r>
              <a:rPr lang="en">
                <a:solidFill>
                  <a:schemeClr val="dk1"/>
                </a:solidFill>
              </a:rPr>
              <a:t> after COVID-19 pandemic</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a:t>
            </a:r>
            <a:r>
              <a:rPr lang="en">
                <a:solidFill>
                  <a:schemeClr val="dk1"/>
                </a:solidFill>
              </a:rPr>
              <a:t>nterest rate hikes as a response to inflationary surge</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S</a:t>
            </a:r>
            <a:r>
              <a:rPr lang="en">
                <a:solidFill>
                  <a:schemeClr val="dk1"/>
                </a:solidFill>
              </a:rPr>
              <a:t>tock market performing well over 2023 (unexpected)</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Post-COVID people expected a recession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How is this related to VIX? </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Largely influenced by market implied inflation</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Large structural breaks (2008 Financial Crisis and 2020 COVID Outbreak)</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1673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Literature Review</a:t>
            </a:r>
            <a:endParaRPr/>
          </a:p>
        </p:txBody>
      </p:sp>
      <p:sp>
        <p:nvSpPr>
          <p:cNvPr id="73" name="Google Shape;73;p16"/>
          <p:cNvSpPr txBox="1"/>
          <p:nvPr/>
        </p:nvSpPr>
        <p:spPr>
          <a:xfrm>
            <a:off x="75250" y="1505447"/>
            <a:ext cx="16752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chemeClr val="dk1"/>
                </a:solidFill>
              </a:rPr>
              <a:t>VIX Price</a:t>
            </a:r>
            <a:endParaRPr sz="2600">
              <a:solidFill>
                <a:schemeClr val="dk1"/>
              </a:solidFill>
            </a:endParaRPr>
          </a:p>
        </p:txBody>
      </p:sp>
      <p:sp>
        <p:nvSpPr>
          <p:cNvPr id="74" name="Google Shape;74;p16"/>
          <p:cNvSpPr txBox="1"/>
          <p:nvPr/>
        </p:nvSpPr>
        <p:spPr>
          <a:xfrm>
            <a:off x="7521375" y="1494450"/>
            <a:ext cx="1539000" cy="64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600">
                <a:solidFill>
                  <a:schemeClr val="dk1"/>
                </a:solidFill>
              </a:rPr>
              <a:t>Inflation</a:t>
            </a:r>
            <a:endParaRPr sz="2600">
              <a:solidFill>
                <a:schemeClr val="dk1"/>
              </a:solidFill>
            </a:endParaRPr>
          </a:p>
        </p:txBody>
      </p:sp>
      <p:cxnSp>
        <p:nvCxnSpPr>
          <p:cNvPr id="75" name="Google Shape;75;p16"/>
          <p:cNvCxnSpPr>
            <a:stCxn id="73" idx="3"/>
            <a:endCxn id="74" idx="1"/>
          </p:cNvCxnSpPr>
          <p:nvPr/>
        </p:nvCxnSpPr>
        <p:spPr>
          <a:xfrm>
            <a:off x="1750450" y="1791797"/>
            <a:ext cx="5770800" cy="23700"/>
          </a:xfrm>
          <a:prstGeom prst="straightConnector1">
            <a:avLst/>
          </a:prstGeom>
          <a:noFill/>
          <a:ln cap="flat" cmpd="sng" w="28575">
            <a:solidFill>
              <a:schemeClr val="dk1"/>
            </a:solidFill>
            <a:prstDash val="solid"/>
            <a:round/>
            <a:headEnd len="med" w="med" type="none"/>
            <a:tailEnd len="med" w="med" type="triangle"/>
          </a:ln>
        </p:spPr>
      </p:cxnSp>
      <p:sp>
        <p:nvSpPr>
          <p:cNvPr id="76" name="Google Shape;76;p16"/>
          <p:cNvSpPr txBox="1"/>
          <p:nvPr/>
        </p:nvSpPr>
        <p:spPr>
          <a:xfrm>
            <a:off x="539475" y="702875"/>
            <a:ext cx="8193000" cy="9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chemeClr val="dk1"/>
                </a:solidFill>
              </a:rPr>
              <a:t>Inverse</a:t>
            </a:r>
            <a:r>
              <a:rPr b="1" lang="en" sz="1600">
                <a:solidFill>
                  <a:schemeClr val="dk1"/>
                </a:solidFill>
              </a:rPr>
              <a:t> Relationship</a:t>
            </a:r>
            <a:r>
              <a:rPr lang="en" sz="1600">
                <a:solidFill>
                  <a:schemeClr val="dk1"/>
                </a:solidFill>
              </a:rPr>
              <a:t> between VIX and 5-year break even inflation  (</a:t>
            </a:r>
            <a:r>
              <a:rPr lang="en" sz="1600">
                <a:solidFill>
                  <a:schemeClr val="dk1"/>
                </a:solidFill>
              </a:rPr>
              <a:t>Soper, C.C., 2017)</a:t>
            </a:r>
            <a:endParaRPr sz="1600">
              <a:solidFill>
                <a:schemeClr val="dk1"/>
              </a:solidFill>
            </a:endParaRPr>
          </a:p>
          <a:p>
            <a:pPr indent="0" lvl="0" marL="0" rtl="0" algn="l">
              <a:spcBef>
                <a:spcPts val="0"/>
              </a:spcBef>
              <a:spcAft>
                <a:spcPts val="0"/>
              </a:spcAft>
              <a:buNone/>
            </a:pPr>
            <a:r>
              <a:rPr lang="en" sz="1600">
                <a:solidFill>
                  <a:schemeClr val="dk1"/>
                </a:solidFill>
              </a:rPr>
              <a:t>VIX had a </a:t>
            </a:r>
            <a:r>
              <a:rPr b="1" lang="en" sz="1600">
                <a:solidFill>
                  <a:schemeClr val="dk1"/>
                </a:solidFill>
              </a:rPr>
              <a:t>positive effect</a:t>
            </a:r>
            <a:r>
              <a:rPr lang="en" sz="1600">
                <a:solidFill>
                  <a:schemeClr val="dk1"/>
                </a:solidFill>
              </a:rPr>
              <a:t> on inflation in the next period in South Africa (Burger, P., 2014)</a:t>
            </a:r>
            <a:endParaRPr sz="1600">
              <a:solidFill>
                <a:schemeClr val="dk1"/>
              </a:solidFill>
            </a:endParaRPr>
          </a:p>
          <a:p>
            <a:pPr indent="0" lvl="0" marL="0" rtl="0" algn="l">
              <a:spcBef>
                <a:spcPts val="0"/>
              </a:spcBef>
              <a:spcAft>
                <a:spcPts val="0"/>
              </a:spcAft>
              <a:buNone/>
            </a:pPr>
            <a:r>
              <a:rPr lang="en" sz="1600">
                <a:solidFill>
                  <a:schemeClr val="dk1"/>
                </a:solidFill>
              </a:rPr>
              <a:t>Evidence that </a:t>
            </a:r>
            <a:r>
              <a:rPr b="1" lang="en" sz="1600">
                <a:solidFill>
                  <a:schemeClr val="dk1"/>
                </a:solidFill>
              </a:rPr>
              <a:t>inflation volatility can help predict VIX volatility</a:t>
            </a:r>
            <a:r>
              <a:rPr lang="en" sz="1600">
                <a:solidFill>
                  <a:schemeClr val="dk1"/>
                </a:solidFill>
              </a:rPr>
              <a:t> (Schwert G.W., 1989) </a:t>
            </a:r>
            <a:endParaRPr sz="1600">
              <a:solidFill>
                <a:schemeClr val="dk1"/>
              </a:solidFill>
            </a:endParaRPr>
          </a:p>
        </p:txBody>
      </p:sp>
      <p:cxnSp>
        <p:nvCxnSpPr>
          <p:cNvPr id="77" name="Google Shape;77;p16"/>
          <p:cNvCxnSpPr>
            <a:stCxn id="78" idx="1"/>
            <a:endCxn id="73" idx="2"/>
          </p:cNvCxnSpPr>
          <p:nvPr/>
        </p:nvCxnSpPr>
        <p:spPr>
          <a:xfrm rot="10800000">
            <a:off x="912800" y="2078200"/>
            <a:ext cx="2223000" cy="1023600"/>
          </a:xfrm>
          <a:prstGeom prst="straightConnector1">
            <a:avLst/>
          </a:prstGeom>
          <a:noFill/>
          <a:ln cap="flat" cmpd="sng" w="28575">
            <a:solidFill>
              <a:schemeClr val="dk1"/>
            </a:solidFill>
            <a:prstDash val="solid"/>
            <a:round/>
            <a:headEnd len="med" w="med" type="none"/>
            <a:tailEnd len="med" w="med" type="triangle"/>
          </a:ln>
        </p:spPr>
      </p:cxnSp>
      <p:sp>
        <p:nvSpPr>
          <p:cNvPr id="78" name="Google Shape;78;p16"/>
          <p:cNvSpPr txBox="1"/>
          <p:nvPr/>
        </p:nvSpPr>
        <p:spPr>
          <a:xfrm>
            <a:off x="3135800" y="2844100"/>
            <a:ext cx="2958600" cy="5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EA9999"/>
                </a:solidFill>
              </a:rPr>
              <a:t>Federal </a:t>
            </a:r>
            <a:r>
              <a:rPr lang="en" sz="2000">
                <a:solidFill>
                  <a:srgbClr val="EA9999"/>
                </a:solidFill>
              </a:rPr>
              <a:t>Funds</a:t>
            </a:r>
            <a:r>
              <a:rPr lang="en" sz="2000">
                <a:solidFill>
                  <a:srgbClr val="EA9999"/>
                </a:solidFill>
              </a:rPr>
              <a:t> Rate</a:t>
            </a:r>
            <a:endParaRPr sz="2000">
              <a:solidFill>
                <a:srgbClr val="EA9999"/>
              </a:solidFill>
            </a:endParaRPr>
          </a:p>
        </p:txBody>
      </p:sp>
      <p:sp>
        <p:nvSpPr>
          <p:cNvPr id="79" name="Google Shape;79;p16"/>
          <p:cNvSpPr txBox="1"/>
          <p:nvPr/>
        </p:nvSpPr>
        <p:spPr>
          <a:xfrm>
            <a:off x="2606563" y="2016175"/>
            <a:ext cx="4828200" cy="9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EA9999"/>
                </a:solidFill>
              </a:rPr>
              <a:t>Purpose of Monetary policy is to control inflation</a:t>
            </a:r>
            <a:endParaRPr sz="1600">
              <a:solidFill>
                <a:srgbClr val="EA9999"/>
              </a:solidFill>
            </a:endParaRPr>
          </a:p>
          <a:p>
            <a:pPr indent="0" lvl="0" marL="0" rtl="0" algn="l">
              <a:spcBef>
                <a:spcPts val="0"/>
              </a:spcBef>
              <a:spcAft>
                <a:spcPts val="0"/>
              </a:spcAft>
              <a:buNone/>
            </a:pPr>
            <a:r>
              <a:rPr b="1" lang="en" sz="1600">
                <a:solidFill>
                  <a:srgbClr val="EA9999"/>
                </a:solidFill>
              </a:rPr>
              <a:t>Significantly affected stock market uncertainty</a:t>
            </a:r>
            <a:endParaRPr b="1" sz="1600">
              <a:solidFill>
                <a:srgbClr val="EA9999"/>
              </a:solidFill>
            </a:endParaRPr>
          </a:p>
          <a:p>
            <a:pPr indent="0" lvl="0" marL="0" rtl="0" algn="l">
              <a:spcBef>
                <a:spcPts val="0"/>
              </a:spcBef>
              <a:spcAft>
                <a:spcPts val="0"/>
              </a:spcAft>
              <a:buNone/>
            </a:pPr>
            <a:r>
              <a:rPr lang="en" sz="1600">
                <a:solidFill>
                  <a:srgbClr val="EA9999"/>
                </a:solidFill>
              </a:rPr>
              <a:t>(Vähämaa, Sami, and Janne Äijö. 2011)</a:t>
            </a:r>
            <a:endParaRPr sz="1600">
              <a:solidFill>
                <a:srgbClr val="EA9999"/>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p:txBody>
      </p:sp>
      <p:sp>
        <p:nvSpPr>
          <p:cNvPr id="80" name="Google Shape;80;p16"/>
          <p:cNvSpPr txBox="1"/>
          <p:nvPr/>
        </p:nvSpPr>
        <p:spPr>
          <a:xfrm>
            <a:off x="3126225" y="3698250"/>
            <a:ext cx="2958600" cy="5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FFFF00"/>
                </a:solidFill>
              </a:rPr>
              <a:t>Unemployment </a:t>
            </a:r>
            <a:r>
              <a:rPr lang="en" sz="2000">
                <a:solidFill>
                  <a:srgbClr val="FFFF00"/>
                </a:solidFill>
              </a:rPr>
              <a:t>Rate</a:t>
            </a:r>
            <a:endParaRPr sz="2000">
              <a:solidFill>
                <a:srgbClr val="FFFF00"/>
              </a:solidFill>
            </a:endParaRPr>
          </a:p>
        </p:txBody>
      </p:sp>
      <p:cxnSp>
        <p:nvCxnSpPr>
          <p:cNvPr id="81" name="Google Shape;81;p16"/>
          <p:cNvCxnSpPr>
            <a:stCxn id="73" idx="2"/>
            <a:endCxn id="80" idx="1"/>
          </p:cNvCxnSpPr>
          <p:nvPr/>
        </p:nvCxnSpPr>
        <p:spPr>
          <a:xfrm flipH="1" rot="-5400000">
            <a:off x="1080700" y="1910297"/>
            <a:ext cx="1877700" cy="2213400"/>
          </a:xfrm>
          <a:prstGeom prst="curvedConnector2">
            <a:avLst/>
          </a:prstGeom>
          <a:noFill/>
          <a:ln cap="flat" cmpd="sng" w="38100">
            <a:solidFill>
              <a:schemeClr val="dk1"/>
            </a:solidFill>
            <a:prstDash val="solid"/>
            <a:round/>
            <a:headEnd len="med" w="med" type="none"/>
            <a:tailEnd len="med" w="med" type="none"/>
          </a:ln>
        </p:spPr>
      </p:cxnSp>
      <p:sp>
        <p:nvSpPr>
          <p:cNvPr id="82" name="Google Shape;82;p16"/>
          <p:cNvSpPr txBox="1"/>
          <p:nvPr/>
        </p:nvSpPr>
        <p:spPr>
          <a:xfrm>
            <a:off x="1009100" y="3101800"/>
            <a:ext cx="2126700" cy="87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FF00"/>
                </a:solidFill>
              </a:rPr>
              <a:t>Most Impactful</a:t>
            </a:r>
            <a:endParaRPr b="1" sz="1600">
              <a:solidFill>
                <a:srgbClr val="FFFF00"/>
              </a:solidFill>
            </a:endParaRPr>
          </a:p>
          <a:p>
            <a:pPr indent="0" lvl="0" marL="0" rtl="0" algn="l">
              <a:spcBef>
                <a:spcPts val="0"/>
              </a:spcBef>
              <a:spcAft>
                <a:spcPts val="0"/>
              </a:spcAft>
              <a:buNone/>
            </a:pPr>
            <a:r>
              <a:rPr lang="en" sz="1600">
                <a:solidFill>
                  <a:srgbClr val="FFFF00"/>
                </a:solidFill>
              </a:rPr>
              <a:t>(</a:t>
            </a:r>
            <a:r>
              <a:rPr lang="en" sz="1600">
                <a:solidFill>
                  <a:srgbClr val="FFFF00"/>
                </a:solidFill>
              </a:rPr>
              <a:t>Łukasz M., and Keller J., 2020)</a:t>
            </a:r>
            <a:endParaRPr sz="1600">
              <a:solidFill>
                <a:srgbClr val="FFFF00"/>
              </a:solidFill>
            </a:endParaRPr>
          </a:p>
        </p:txBody>
      </p:sp>
      <p:sp>
        <p:nvSpPr>
          <p:cNvPr id="83" name="Google Shape;83;p16"/>
          <p:cNvSpPr txBox="1"/>
          <p:nvPr/>
        </p:nvSpPr>
        <p:spPr>
          <a:xfrm>
            <a:off x="3135800" y="4416550"/>
            <a:ext cx="2795400" cy="5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rgbClr val="A4C2F4"/>
                </a:solidFill>
              </a:rPr>
              <a:t>GDP</a:t>
            </a:r>
            <a:endParaRPr sz="2000">
              <a:solidFill>
                <a:srgbClr val="A4C2F4"/>
              </a:solidFill>
            </a:endParaRPr>
          </a:p>
        </p:txBody>
      </p:sp>
      <p:cxnSp>
        <p:nvCxnSpPr>
          <p:cNvPr id="84" name="Google Shape;84;p16"/>
          <p:cNvCxnSpPr>
            <a:stCxn id="78" idx="3"/>
            <a:endCxn id="74" idx="2"/>
          </p:cNvCxnSpPr>
          <p:nvPr/>
        </p:nvCxnSpPr>
        <p:spPr>
          <a:xfrm flipH="1" rot="10800000">
            <a:off x="6094400" y="2136700"/>
            <a:ext cx="2196600" cy="965100"/>
          </a:xfrm>
          <a:prstGeom prst="straightConnector1">
            <a:avLst/>
          </a:prstGeom>
          <a:noFill/>
          <a:ln cap="flat" cmpd="sng" w="28575">
            <a:solidFill>
              <a:schemeClr val="dk1"/>
            </a:solidFill>
            <a:prstDash val="solid"/>
            <a:round/>
            <a:headEnd len="med" w="med" type="none"/>
            <a:tailEnd len="med" w="med" type="triangle"/>
          </a:ln>
        </p:spPr>
      </p:cxnSp>
      <p:cxnSp>
        <p:nvCxnSpPr>
          <p:cNvPr id="85" name="Google Shape;85;p16"/>
          <p:cNvCxnSpPr>
            <a:stCxn id="74" idx="1"/>
            <a:endCxn id="73" idx="3"/>
          </p:cNvCxnSpPr>
          <p:nvPr/>
        </p:nvCxnSpPr>
        <p:spPr>
          <a:xfrm rot="10800000">
            <a:off x="1750575" y="1791900"/>
            <a:ext cx="5770800" cy="23700"/>
          </a:xfrm>
          <a:prstGeom prst="straightConnector1">
            <a:avLst/>
          </a:prstGeom>
          <a:noFill/>
          <a:ln cap="flat" cmpd="sng" w="28575">
            <a:solidFill>
              <a:schemeClr val="dk1"/>
            </a:solidFill>
            <a:prstDash val="solid"/>
            <a:round/>
            <a:headEnd len="med" w="med" type="none"/>
            <a:tailEnd len="med" w="med" type="triangle"/>
          </a:ln>
        </p:spPr>
      </p:cxnSp>
      <p:cxnSp>
        <p:nvCxnSpPr>
          <p:cNvPr id="86" name="Google Shape;86;p16"/>
          <p:cNvCxnSpPr/>
          <p:nvPr/>
        </p:nvCxnSpPr>
        <p:spPr>
          <a:xfrm>
            <a:off x="913900" y="2101850"/>
            <a:ext cx="6300" cy="2594700"/>
          </a:xfrm>
          <a:prstGeom prst="straightConnector1">
            <a:avLst/>
          </a:prstGeom>
          <a:noFill/>
          <a:ln cap="flat" cmpd="sng" w="38100">
            <a:solidFill>
              <a:schemeClr val="dk1"/>
            </a:solidFill>
            <a:prstDash val="solid"/>
            <a:round/>
            <a:headEnd len="med" w="med" type="none"/>
            <a:tailEnd len="med" w="med" type="none"/>
          </a:ln>
        </p:spPr>
      </p:cxnSp>
      <p:cxnSp>
        <p:nvCxnSpPr>
          <p:cNvPr id="87" name="Google Shape;87;p16"/>
          <p:cNvCxnSpPr/>
          <p:nvPr/>
        </p:nvCxnSpPr>
        <p:spPr>
          <a:xfrm flipH="1">
            <a:off x="902450" y="4699375"/>
            <a:ext cx="2215800" cy="14700"/>
          </a:xfrm>
          <a:prstGeom prst="straightConnector1">
            <a:avLst/>
          </a:prstGeom>
          <a:noFill/>
          <a:ln cap="flat" cmpd="sng" w="38100">
            <a:solidFill>
              <a:schemeClr val="dk1"/>
            </a:solidFill>
            <a:prstDash val="solid"/>
            <a:round/>
            <a:headEnd len="med" w="med" type="none"/>
            <a:tailEnd len="med" w="med" type="none"/>
          </a:ln>
        </p:spPr>
      </p:cxnSp>
      <p:sp>
        <p:nvSpPr>
          <p:cNvPr id="88" name="Google Shape;88;p16"/>
          <p:cNvSpPr txBox="1"/>
          <p:nvPr/>
        </p:nvSpPr>
        <p:spPr>
          <a:xfrm>
            <a:off x="119450" y="4135825"/>
            <a:ext cx="3486300" cy="9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A4C2F4"/>
                </a:solidFill>
              </a:rPr>
              <a:t>Positive implied volatility is driven by GDP</a:t>
            </a:r>
            <a:r>
              <a:rPr lang="en" sz="1600">
                <a:solidFill>
                  <a:srgbClr val="A4C2F4"/>
                </a:solidFill>
              </a:rPr>
              <a:t> (Bevilacqua, M., Morelli, D., and Tunaru, R., 2019)</a:t>
            </a:r>
            <a:endParaRPr sz="1600">
              <a:solidFill>
                <a:srgbClr val="A4C2F4"/>
              </a:solidFill>
            </a:endParaRPr>
          </a:p>
        </p:txBody>
      </p:sp>
      <p:cxnSp>
        <p:nvCxnSpPr>
          <p:cNvPr id="89" name="Google Shape;89;p16"/>
          <p:cNvCxnSpPr>
            <a:stCxn id="74" idx="2"/>
          </p:cNvCxnSpPr>
          <p:nvPr/>
        </p:nvCxnSpPr>
        <p:spPr>
          <a:xfrm>
            <a:off x="8290875" y="2136750"/>
            <a:ext cx="68400" cy="2559900"/>
          </a:xfrm>
          <a:prstGeom prst="straightConnector1">
            <a:avLst/>
          </a:prstGeom>
          <a:noFill/>
          <a:ln cap="flat" cmpd="sng" w="38100">
            <a:solidFill>
              <a:schemeClr val="dk1"/>
            </a:solidFill>
            <a:prstDash val="solid"/>
            <a:round/>
            <a:headEnd len="med" w="med" type="none"/>
            <a:tailEnd len="med" w="med" type="none"/>
          </a:ln>
        </p:spPr>
      </p:cxnSp>
      <p:cxnSp>
        <p:nvCxnSpPr>
          <p:cNvPr id="90" name="Google Shape;90;p16"/>
          <p:cNvCxnSpPr>
            <a:endCxn id="83" idx="3"/>
          </p:cNvCxnSpPr>
          <p:nvPr/>
        </p:nvCxnSpPr>
        <p:spPr>
          <a:xfrm rot="10800000">
            <a:off x="5931200" y="4674250"/>
            <a:ext cx="2446800" cy="18600"/>
          </a:xfrm>
          <a:prstGeom prst="straightConnector1">
            <a:avLst/>
          </a:prstGeom>
          <a:noFill/>
          <a:ln cap="flat" cmpd="sng" w="38100">
            <a:solidFill>
              <a:schemeClr val="dk1"/>
            </a:solidFill>
            <a:prstDash val="solid"/>
            <a:round/>
            <a:headEnd len="med" w="med" type="none"/>
            <a:tailEnd len="med" w="med" type="none"/>
          </a:ln>
        </p:spPr>
      </p:cxnSp>
      <p:cxnSp>
        <p:nvCxnSpPr>
          <p:cNvPr id="91" name="Google Shape;91;p16"/>
          <p:cNvCxnSpPr>
            <a:stCxn id="80" idx="3"/>
            <a:endCxn id="74" idx="2"/>
          </p:cNvCxnSpPr>
          <p:nvPr/>
        </p:nvCxnSpPr>
        <p:spPr>
          <a:xfrm flipH="1" rot="10800000">
            <a:off x="6084825" y="2136750"/>
            <a:ext cx="2206200" cy="1819200"/>
          </a:xfrm>
          <a:prstGeom prst="curvedConnector2">
            <a:avLst/>
          </a:prstGeom>
          <a:noFill/>
          <a:ln cap="flat" cmpd="sng" w="38100">
            <a:solidFill>
              <a:schemeClr val="dk1"/>
            </a:solidFill>
            <a:prstDash val="solid"/>
            <a:round/>
            <a:headEnd len="med" w="med" type="none"/>
            <a:tailEnd len="med" w="med" type="none"/>
          </a:ln>
        </p:spPr>
      </p:cxnSp>
      <p:sp>
        <p:nvSpPr>
          <p:cNvPr id="92" name="Google Shape;92;p16"/>
          <p:cNvSpPr txBox="1"/>
          <p:nvPr/>
        </p:nvSpPr>
        <p:spPr>
          <a:xfrm>
            <a:off x="5931300" y="3144349"/>
            <a:ext cx="2231400" cy="8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solidFill>
                  <a:srgbClr val="FFFF00"/>
                </a:solidFill>
              </a:rPr>
              <a:t>Inverse Relationship</a:t>
            </a:r>
            <a:r>
              <a:rPr lang="en" sz="1600">
                <a:solidFill>
                  <a:srgbClr val="FFFF00"/>
                </a:solidFill>
              </a:rPr>
              <a:t> as defined by Phillips Curve</a:t>
            </a:r>
            <a:endParaRPr sz="1600">
              <a:solidFill>
                <a:srgbClr val="FFFF00"/>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p:txBody>
      </p:sp>
      <p:sp>
        <p:nvSpPr>
          <p:cNvPr id="93" name="Google Shape;93;p16"/>
          <p:cNvSpPr txBox="1"/>
          <p:nvPr/>
        </p:nvSpPr>
        <p:spPr>
          <a:xfrm>
            <a:off x="5763300" y="4135825"/>
            <a:ext cx="3140400" cy="8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rgbClr val="A4C2F4"/>
                </a:solidFill>
              </a:rPr>
              <a:t>Different</a:t>
            </a:r>
            <a:r>
              <a:rPr lang="en" sz="1600">
                <a:solidFill>
                  <a:srgbClr val="A4C2F4"/>
                </a:solidFill>
              </a:rPr>
              <a:t> Relationships depending on theory of thought: Keynesian, Neoclassical etc.</a:t>
            </a:r>
            <a:endParaRPr sz="1600">
              <a:solidFill>
                <a:srgbClr val="A4C2F4"/>
              </a:solidFill>
            </a:endParaRPr>
          </a:p>
          <a:p>
            <a:pPr indent="0" lvl="0" marL="0" rtl="0" algn="l">
              <a:spcBef>
                <a:spcPts val="0"/>
              </a:spcBef>
              <a:spcAft>
                <a:spcPts val="0"/>
              </a:spcAft>
              <a:buNone/>
            </a:pPr>
            <a:r>
              <a:rPr lang="en" sz="1600">
                <a:solidFill>
                  <a:schemeClr val="dk1"/>
                </a:solidFill>
              </a:rPr>
              <a:t> </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a:t>
            </a:r>
            <a:endParaRPr/>
          </a:p>
        </p:txBody>
      </p:sp>
      <p:sp>
        <p:nvSpPr>
          <p:cNvPr id="99" name="Google Shape;9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solidFill>
                  <a:schemeClr val="dk1"/>
                </a:solidFill>
              </a:rPr>
              <a:t>Data Sources: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VIX: FactSet</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CPI: Federal Reserve Economic Data</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Fed Funds: Federal Reserve Economic Data</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Unemployment Rate: Federal Reserve Economic Data</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Monthly Real GDP Index: S&amp;P Global</a:t>
            </a:r>
            <a:endParaRPr>
              <a:solidFill>
                <a:schemeClr val="dk1"/>
              </a:solidFill>
            </a:endParaRPr>
          </a:p>
          <a:p>
            <a:pPr indent="0" lvl="0" marL="0" rtl="0" algn="l">
              <a:spcBef>
                <a:spcPts val="1200"/>
              </a:spcBef>
              <a:spcAft>
                <a:spcPts val="0"/>
              </a:spcAft>
              <a:buNone/>
            </a:pPr>
            <a:r>
              <a:rPr lang="en">
                <a:solidFill>
                  <a:schemeClr val="dk1"/>
                </a:solidFill>
              </a:rPr>
              <a:t>Note: Official GDP quarterly statistics are not being used. S&amp;P Global Index are </a:t>
            </a:r>
            <a:r>
              <a:rPr lang="en">
                <a:solidFill>
                  <a:schemeClr val="dk1"/>
                </a:solidFill>
              </a:rPr>
              <a:t>used</a:t>
            </a:r>
            <a:r>
              <a:rPr lang="en">
                <a:solidFill>
                  <a:schemeClr val="dk1"/>
                </a:solidFill>
              </a:rPr>
              <a:t> because it provides monthly data.</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Data Preparation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title"/>
          </p:nvPr>
        </p:nvSpPr>
        <p:spPr>
          <a:xfrm>
            <a:off x="311700" y="287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Preparation</a:t>
            </a:r>
            <a:endParaRPr/>
          </a:p>
        </p:txBody>
      </p:sp>
      <p:sp>
        <p:nvSpPr>
          <p:cNvPr id="110" name="Google Shape;110;p19"/>
          <p:cNvSpPr txBox="1"/>
          <p:nvPr>
            <p:ph idx="1" type="body"/>
          </p:nvPr>
        </p:nvSpPr>
        <p:spPr>
          <a:xfrm>
            <a:off x="311700" y="806125"/>
            <a:ext cx="8520600" cy="3762900"/>
          </a:xfrm>
          <a:prstGeom prst="rect">
            <a:avLst/>
          </a:prstGeom>
        </p:spPr>
        <p:txBody>
          <a:bodyPr anchorCtr="0" anchor="t" bIns="91425" lIns="91425" spcFirstLastPara="1" rIns="91425" wrap="square" tIns="91425">
            <a:normAutofit/>
          </a:bodyPr>
          <a:lstStyle/>
          <a:p>
            <a:pPr indent="-336550" lvl="0" marL="457200" rtl="0" algn="l">
              <a:spcBef>
                <a:spcPts val="0"/>
              </a:spcBef>
              <a:spcAft>
                <a:spcPts val="0"/>
              </a:spcAft>
              <a:buClr>
                <a:schemeClr val="dk1"/>
              </a:buClr>
              <a:buSzPts val="1700"/>
              <a:buChar char="●"/>
            </a:pPr>
            <a:r>
              <a:rPr lang="en" sz="1700">
                <a:solidFill>
                  <a:schemeClr val="dk1"/>
                </a:solidFill>
              </a:rPr>
              <a:t>Performed ADF (Augmented Dickey-Fuller) tests for stationarity of data</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Null Hypothesis: The process contains a unit root. Alternative Hypothesis: The process is weakly stationary.</a:t>
            </a:r>
            <a:endParaRPr sz="1700">
              <a:solidFill>
                <a:schemeClr val="dk1"/>
              </a:solidFill>
            </a:endParaRPr>
          </a:p>
          <a:p>
            <a:pPr indent="-336550" lvl="0" marL="457200" rtl="0" algn="l">
              <a:spcBef>
                <a:spcPts val="0"/>
              </a:spcBef>
              <a:spcAft>
                <a:spcPts val="0"/>
              </a:spcAft>
              <a:buClr>
                <a:schemeClr val="dk1"/>
              </a:buClr>
              <a:buSzPts val="1700"/>
              <a:buChar char="●"/>
            </a:pPr>
            <a:r>
              <a:rPr lang="en" sz="1700">
                <a:solidFill>
                  <a:schemeClr val="dk1"/>
                </a:solidFill>
              </a:rPr>
              <a:t>Performed transformations for non-stationary data</a:t>
            </a:r>
            <a:endParaRPr sz="1700">
              <a:solidFill>
                <a:schemeClr val="dk1"/>
              </a:solidFill>
            </a:endParaRPr>
          </a:p>
          <a:p>
            <a:pPr indent="0" lvl="0" marL="0" rtl="0" algn="l">
              <a:spcBef>
                <a:spcPts val="1200"/>
              </a:spcBef>
              <a:spcAft>
                <a:spcPts val="1200"/>
              </a:spcAft>
              <a:buNone/>
            </a:pPr>
            <a:r>
              <a:t/>
            </a:r>
            <a:endParaRPr/>
          </a:p>
        </p:txBody>
      </p:sp>
      <p:graphicFrame>
        <p:nvGraphicFramePr>
          <p:cNvPr id="111" name="Google Shape;111;p19"/>
          <p:cNvGraphicFramePr/>
          <p:nvPr/>
        </p:nvGraphicFramePr>
        <p:xfrm>
          <a:off x="1536225" y="2206050"/>
          <a:ext cx="3000000" cy="3000000"/>
        </p:xfrm>
        <a:graphic>
          <a:graphicData uri="http://schemas.openxmlformats.org/drawingml/2006/table">
            <a:tbl>
              <a:tblPr>
                <a:noFill/>
                <a:tableStyleId>{59F79B23-F705-4436-ACE7-018CA092DD60}</a:tableStyleId>
              </a:tblPr>
              <a:tblGrid>
                <a:gridCol w="2620400"/>
                <a:gridCol w="774400"/>
                <a:gridCol w="658825"/>
                <a:gridCol w="1220675"/>
                <a:gridCol w="797250"/>
              </a:tblGrid>
              <a:tr h="367425">
                <a:tc>
                  <a:txBody>
                    <a:bodyPr/>
                    <a:lstStyle/>
                    <a:p>
                      <a:pPr indent="0" lvl="0" marL="0" rtl="0" algn="ctr">
                        <a:lnSpc>
                          <a:spcPct val="115000"/>
                        </a:lnSpc>
                        <a:spcBef>
                          <a:spcPts val="0"/>
                        </a:spcBef>
                        <a:spcAft>
                          <a:spcPts val="0"/>
                        </a:spcAft>
                        <a:buNone/>
                      </a:pPr>
                      <a:r>
                        <a:rPr b="1" lang="en" sz="1200">
                          <a:solidFill>
                            <a:schemeClr val="dk1"/>
                          </a:solidFill>
                        </a:rPr>
                        <a:t>Data</a:t>
                      </a:r>
                      <a:endParaRPr b="1"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solidFill>
                            <a:schemeClr val="dk1"/>
                          </a:solidFill>
                        </a:rPr>
                        <a:t>Test Value</a:t>
                      </a:r>
                      <a:endParaRPr b="1"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solidFill>
                            <a:schemeClr val="dk1"/>
                          </a:solidFill>
                        </a:rPr>
                        <a:t>p-Value</a:t>
                      </a:r>
                      <a:endParaRPr b="1"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solidFill>
                            <a:schemeClr val="dk1"/>
                          </a:solidFill>
                        </a:rPr>
                        <a:t>Null Hypothesis</a:t>
                      </a:r>
                      <a:endParaRPr b="1"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200">
                          <a:solidFill>
                            <a:schemeClr val="dk1"/>
                          </a:solidFill>
                        </a:rPr>
                        <a:t>Stationary</a:t>
                      </a:r>
                      <a:endParaRPr b="1"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34450">
                <a:tc>
                  <a:txBody>
                    <a:bodyPr/>
                    <a:lstStyle/>
                    <a:p>
                      <a:pPr indent="0" lvl="0" marL="0" rtl="0" algn="ctr">
                        <a:lnSpc>
                          <a:spcPct val="115000"/>
                        </a:lnSpc>
                        <a:spcBef>
                          <a:spcPts val="0"/>
                        </a:spcBef>
                        <a:spcAft>
                          <a:spcPts val="0"/>
                        </a:spcAft>
                        <a:buNone/>
                      </a:pPr>
                      <a:r>
                        <a:rPr lang="en" sz="1200">
                          <a:solidFill>
                            <a:schemeClr val="dk1"/>
                          </a:solidFill>
                        </a:rPr>
                        <a:t>VIX Price</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-5.572</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0.000</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Yes</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67425">
                <a:tc>
                  <a:txBody>
                    <a:bodyPr/>
                    <a:lstStyle/>
                    <a:p>
                      <a:pPr indent="0" lvl="0" marL="0" rtl="0" algn="ctr">
                        <a:lnSpc>
                          <a:spcPct val="115000"/>
                        </a:lnSpc>
                        <a:spcBef>
                          <a:spcPts val="0"/>
                        </a:spcBef>
                        <a:spcAft>
                          <a:spcPts val="0"/>
                        </a:spcAft>
                        <a:buNone/>
                      </a:pPr>
                      <a:r>
                        <a:rPr lang="en" sz="1200">
                          <a:solidFill>
                            <a:schemeClr val="dk1"/>
                          </a:solidFill>
                        </a:rPr>
                        <a:t>Monthly Inflation Rate</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-3.331</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0.014</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Yes</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34450">
                <a:tc>
                  <a:txBody>
                    <a:bodyPr/>
                    <a:lstStyle/>
                    <a:p>
                      <a:pPr indent="0" lvl="0" marL="0" rtl="0" algn="ctr">
                        <a:lnSpc>
                          <a:spcPct val="115000"/>
                        </a:lnSpc>
                        <a:spcBef>
                          <a:spcPts val="0"/>
                        </a:spcBef>
                        <a:spcAft>
                          <a:spcPts val="0"/>
                        </a:spcAft>
                        <a:buNone/>
                      </a:pPr>
                      <a:r>
                        <a:rPr lang="en" sz="1200">
                          <a:solidFill>
                            <a:schemeClr val="dk1"/>
                          </a:solidFill>
                        </a:rPr>
                        <a:t>Federal Funds Rate</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-3.668</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0.005</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Yes</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34450">
                <a:tc>
                  <a:txBody>
                    <a:bodyPr/>
                    <a:lstStyle/>
                    <a:p>
                      <a:pPr indent="0" lvl="0" marL="0" rtl="0" algn="ctr">
                        <a:lnSpc>
                          <a:spcPct val="115000"/>
                        </a:lnSpc>
                        <a:spcBef>
                          <a:spcPts val="0"/>
                        </a:spcBef>
                        <a:spcAft>
                          <a:spcPts val="0"/>
                        </a:spcAft>
                        <a:buNone/>
                      </a:pPr>
                      <a:r>
                        <a:rPr lang="en" sz="1200">
                          <a:solidFill>
                            <a:schemeClr val="dk1"/>
                          </a:solidFill>
                        </a:rPr>
                        <a:t>Unemployment Rate</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-2.361</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0.153</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Cannot 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No</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34450">
                <a:tc>
                  <a:txBody>
                    <a:bodyPr/>
                    <a:lstStyle/>
                    <a:p>
                      <a:pPr indent="0" lvl="0" marL="0" rtl="0" algn="ctr">
                        <a:lnSpc>
                          <a:spcPct val="115000"/>
                        </a:lnSpc>
                        <a:spcBef>
                          <a:spcPts val="0"/>
                        </a:spcBef>
                        <a:spcAft>
                          <a:spcPts val="0"/>
                        </a:spcAft>
                        <a:buNone/>
                      </a:pPr>
                      <a:r>
                        <a:rPr lang="en" sz="1200">
                          <a:solidFill>
                            <a:schemeClr val="dk1"/>
                          </a:solidFill>
                        </a:rPr>
                        <a:t>First Difference Unemployment Rate</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-10.851</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0.000</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Yes</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34450">
                <a:tc>
                  <a:txBody>
                    <a:bodyPr/>
                    <a:lstStyle/>
                    <a:p>
                      <a:pPr indent="0" lvl="0" marL="0" rtl="0" algn="ctr">
                        <a:lnSpc>
                          <a:spcPct val="115000"/>
                        </a:lnSpc>
                        <a:spcBef>
                          <a:spcPts val="0"/>
                        </a:spcBef>
                        <a:spcAft>
                          <a:spcPts val="0"/>
                        </a:spcAft>
                        <a:buNone/>
                      </a:pPr>
                      <a:r>
                        <a:rPr lang="en" sz="1200">
                          <a:solidFill>
                            <a:schemeClr val="dk1"/>
                          </a:solidFill>
                        </a:rPr>
                        <a:t>Monthly Real GDP Index</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0.592</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0.987</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Cannot 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No</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r h="334450">
                <a:tc>
                  <a:txBody>
                    <a:bodyPr/>
                    <a:lstStyle/>
                    <a:p>
                      <a:pPr indent="0" lvl="0" marL="0" rtl="0" algn="ctr">
                        <a:lnSpc>
                          <a:spcPct val="115000"/>
                        </a:lnSpc>
                        <a:spcBef>
                          <a:spcPts val="0"/>
                        </a:spcBef>
                        <a:spcAft>
                          <a:spcPts val="0"/>
                        </a:spcAft>
                        <a:buNone/>
                      </a:pPr>
                      <a:r>
                        <a:rPr lang="en" sz="1200">
                          <a:solidFill>
                            <a:schemeClr val="dk1"/>
                          </a:solidFill>
                        </a:rPr>
                        <a:t>Monthly Growth Rate Real GDP</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-10.088</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0.000</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Reject</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 sz="1200">
                          <a:solidFill>
                            <a:schemeClr val="dk1"/>
                          </a:solidFill>
                        </a:rPr>
                        <a:t>Yes</a:t>
                      </a:r>
                      <a:endParaRPr sz="1200">
                        <a:solidFill>
                          <a:schemeClr val="dk1"/>
                        </a:solidFill>
                      </a:endParaRPr>
                    </a:p>
                  </a:txBody>
                  <a:tcPr marT="9525" marB="91425" marR="9525" marL="9525" anchor="b">
                    <a:lnL cap="flat" cmpd="sng" w="4775">
                      <a:solidFill>
                        <a:srgbClr val="000000"/>
                      </a:solidFill>
                      <a:prstDash val="solid"/>
                      <a:round/>
                      <a:headEnd len="sm" w="sm" type="none"/>
                      <a:tailEnd len="sm" w="sm" type="none"/>
                    </a:lnL>
                    <a:lnR cap="flat" cmpd="sng" w="4775">
                      <a:solidFill>
                        <a:srgbClr val="000000"/>
                      </a:solidFill>
                      <a:prstDash val="solid"/>
                      <a:round/>
                      <a:headEnd len="sm" w="sm" type="none"/>
                      <a:tailEnd len="sm" w="sm" type="none"/>
                    </a:lnR>
                    <a:lnT cap="flat" cmpd="sng" w="4775">
                      <a:solidFill>
                        <a:srgbClr val="000000"/>
                      </a:solidFill>
                      <a:prstDash val="solid"/>
                      <a:round/>
                      <a:headEnd len="sm" w="sm" type="none"/>
                      <a:tailEnd len="sm" w="sm" type="none"/>
                    </a:lnT>
                    <a:lnB cap="flat" cmpd="sng" w="4775">
                      <a:solidFill>
                        <a:srgbClr val="000000"/>
                      </a:solidFill>
                      <a:prstDash val="solid"/>
                      <a:round/>
                      <a:headEnd len="sm" w="sm" type="none"/>
                      <a:tailEnd len="sm" w="sm" type="none"/>
                    </a:lnB>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0"/>
          <p:cNvPicPr preferRelativeResize="0"/>
          <p:nvPr/>
        </p:nvPicPr>
        <p:blipFill>
          <a:blip r:embed="rId3">
            <a:alphaModFix/>
          </a:blip>
          <a:stretch>
            <a:fillRect/>
          </a:stretch>
        </p:blipFill>
        <p:spPr>
          <a:xfrm>
            <a:off x="122238" y="1855313"/>
            <a:ext cx="4017018" cy="3213626"/>
          </a:xfrm>
          <a:prstGeom prst="rect">
            <a:avLst/>
          </a:prstGeom>
          <a:noFill/>
          <a:ln>
            <a:noFill/>
          </a:ln>
        </p:spPr>
      </p:pic>
      <p:pic>
        <p:nvPicPr>
          <p:cNvPr id="117" name="Google Shape;117;p20"/>
          <p:cNvPicPr preferRelativeResize="0"/>
          <p:nvPr/>
        </p:nvPicPr>
        <p:blipFill>
          <a:blip r:embed="rId4">
            <a:alphaModFix/>
          </a:blip>
          <a:stretch>
            <a:fillRect/>
          </a:stretch>
        </p:blipFill>
        <p:spPr>
          <a:xfrm>
            <a:off x="4240687" y="1855325"/>
            <a:ext cx="4781072" cy="3213624"/>
          </a:xfrm>
          <a:prstGeom prst="rect">
            <a:avLst/>
          </a:prstGeom>
          <a:noFill/>
          <a:ln>
            <a:noFill/>
          </a:ln>
        </p:spPr>
      </p:pic>
      <p:sp>
        <p:nvSpPr>
          <p:cNvPr id="118" name="Google Shape;118;p20"/>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arabicPeriod"/>
            </a:pPr>
            <a:r>
              <a:rPr lang="en"/>
              <a:t>Time Period Selection</a:t>
            </a:r>
            <a:endParaRPr/>
          </a:p>
        </p:txBody>
      </p:sp>
      <p:sp>
        <p:nvSpPr>
          <p:cNvPr id="119" name="Google Shape;119;p20"/>
          <p:cNvSpPr txBox="1"/>
          <p:nvPr>
            <p:ph idx="1" type="body"/>
          </p:nvPr>
        </p:nvSpPr>
        <p:spPr>
          <a:xfrm>
            <a:off x="335525" y="908750"/>
            <a:ext cx="8520600" cy="9465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The Asian Crisis of 1997; The Financial Crisis of 2008; The COVID of 2020</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Time Period Selected: Jan 2000 - Jan 2024</a:t>
            </a:r>
            <a:endParaRPr>
              <a:solidFill>
                <a:schemeClr val="dk1"/>
              </a:solidFill>
            </a:endParaRPr>
          </a:p>
        </p:txBody>
      </p:sp>
      <p:cxnSp>
        <p:nvCxnSpPr>
          <p:cNvPr id="120" name="Google Shape;120;p20"/>
          <p:cNvCxnSpPr/>
          <p:nvPr/>
        </p:nvCxnSpPr>
        <p:spPr>
          <a:xfrm rot="10800000">
            <a:off x="1027788" y="2552650"/>
            <a:ext cx="0" cy="2175600"/>
          </a:xfrm>
          <a:prstGeom prst="straightConnector1">
            <a:avLst/>
          </a:prstGeom>
          <a:noFill/>
          <a:ln cap="flat" cmpd="sng" w="19050">
            <a:solidFill>
              <a:srgbClr val="FF0000"/>
            </a:solidFill>
            <a:prstDash val="dash"/>
            <a:round/>
            <a:headEnd len="med" w="med" type="none"/>
            <a:tailEnd len="med" w="med" type="none"/>
          </a:ln>
        </p:spPr>
      </p:cxnSp>
      <p:cxnSp>
        <p:nvCxnSpPr>
          <p:cNvPr id="121" name="Google Shape;121;p20"/>
          <p:cNvCxnSpPr/>
          <p:nvPr/>
        </p:nvCxnSpPr>
        <p:spPr>
          <a:xfrm rot="10800000">
            <a:off x="2153738" y="2552650"/>
            <a:ext cx="0" cy="2175600"/>
          </a:xfrm>
          <a:prstGeom prst="straightConnector1">
            <a:avLst/>
          </a:prstGeom>
          <a:noFill/>
          <a:ln cap="flat" cmpd="sng" w="19050">
            <a:solidFill>
              <a:srgbClr val="FF0000"/>
            </a:solidFill>
            <a:prstDash val="dash"/>
            <a:round/>
            <a:headEnd len="med" w="med" type="none"/>
            <a:tailEnd len="med" w="med" type="none"/>
          </a:ln>
        </p:spPr>
      </p:cxnSp>
      <p:cxnSp>
        <p:nvCxnSpPr>
          <p:cNvPr id="122" name="Google Shape;122;p20"/>
          <p:cNvCxnSpPr/>
          <p:nvPr/>
        </p:nvCxnSpPr>
        <p:spPr>
          <a:xfrm rot="10800000">
            <a:off x="3486888" y="2552650"/>
            <a:ext cx="0" cy="2175600"/>
          </a:xfrm>
          <a:prstGeom prst="straightConnector1">
            <a:avLst/>
          </a:prstGeom>
          <a:noFill/>
          <a:ln cap="flat" cmpd="sng" w="19050">
            <a:solidFill>
              <a:srgbClr val="FF0000"/>
            </a:solidFill>
            <a:prstDash val="dash"/>
            <a:round/>
            <a:headEnd len="med" w="med" type="none"/>
            <a:tailEnd len="med" w="med" type="none"/>
          </a:ln>
        </p:spPr>
      </p:cxnSp>
      <p:cxnSp>
        <p:nvCxnSpPr>
          <p:cNvPr id="123" name="Google Shape;123;p20"/>
          <p:cNvCxnSpPr/>
          <p:nvPr/>
        </p:nvCxnSpPr>
        <p:spPr>
          <a:xfrm rot="10800000">
            <a:off x="5534713" y="2552650"/>
            <a:ext cx="0" cy="2175600"/>
          </a:xfrm>
          <a:prstGeom prst="straightConnector1">
            <a:avLst/>
          </a:prstGeom>
          <a:noFill/>
          <a:ln cap="flat" cmpd="sng" w="19050">
            <a:solidFill>
              <a:srgbClr val="FF0000"/>
            </a:solidFill>
            <a:prstDash val="dash"/>
            <a:round/>
            <a:headEnd len="med" w="med" type="none"/>
            <a:tailEnd len="med" w="med" type="none"/>
          </a:ln>
        </p:spPr>
      </p:cxnSp>
      <p:cxnSp>
        <p:nvCxnSpPr>
          <p:cNvPr id="124" name="Google Shape;124;p20"/>
          <p:cNvCxnSpPr/>
          <p:nvPr/>
        </p:nvCxnSpPr>
        <p:spPr>
          <a:xfrm rot="10800000">
            <a:off x="6631213" y="2552650"/>
            <a:ext cx="0" cy="2175600"/>
          </a:xfrm>
          <a:prstGeom prst="straightConnector1">
            <a:avLst/>
          </a:prstGeom>
          <a:noFill/>
          <a:ln cap="flat" cmpd="sng" w="19050">
            <a:solidFill>
              <a:srgbClr val="FF0000"/>
            </a:solidFill>
            <a:prstDash val="dash"/>
            <a:round/>
            <a:headEnd len="med" w="med" type="none"/>
            <a:tailEnd len="med" w="med" type="none"/>
          </a:ln>
        </p:spPr>
      </p:cxnSp>
      <p:cxnSp>
        <p:nvCxnSpPr>
          <p:cNvPr id="125" name="Google Shape;125;p20"/>
          <p:cNvCxnSpPr/>
          <p:nvPr/>
        </p:nvCxnSpPr>
        <p:spPr>
          <a:xfrm rot="10800000">
            <a:off x="7951488" y="2552650"/>
            <a:ext cx="0" cy="2175600"/>
          </a:xfrm>
          <a:prstGeom prst="straightConnector1">
            <a:avLst/>
          </a:prstGeom>
          <a:noFill/>
          <a:ln cap="flat" cmpd="sng" w="19050">
            <a:solidFill>
              <a:srgbClr val="FF0000"/>
            </a:solidFill>
            <a:prstDash val="dash"/>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1"/>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a:t>
            </a:r>
            <a:r>
              <a:rPr lang="en"/>
              <a:t>Variable Transformation - Binary Variables</a:t>
            </a:r>
            <a:endParaRPr/>
          </a:p>
        </p:txBody>
      </p:sp>
      <p:sp>
        <p:nvSpPr>
          <p:cNvPr id="131" name="Google Shape;131;p21"/>
          <p:cNvSpPr txBox="1"/>
          <p:nvPr>
            <p:ph idx="1" type="body"/>
          </p:nvPr>
        </p:nvSpPr>
        <p:spPr>
          <a:xfrm>
            <a:off x="311700" y="938163"/>
            <a:ext cx="8520600" cy="14676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US Business Cycle Contractions (recessions)</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March 2001 to November 2001 ⇒ Recession 1</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December 2007 to June 2009 ⇒ Recession 2</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February</a:t>
            </a:r>
            <a:r>
              <a:rPr lang="en" sz="1800">
                <a:solidFill>
                  <a:schemeClr val="dk1"/>
                </a:solidFill>
              </a:rPr>
              <a:t> 2020 to April 2020 ⇒ Recession 3</a:t>
            </a:r>
            <a:endParaRPr sz="1800">
              <a:solidFill>
                <a:schemeClr val="dk1"/>
              </a:solidFill>
            </a:endParaRPr>
          </a:p>
        </p:txBody>
      </p:sp>
      <p:pic>
        <p:nvPicPr>
          <p:cNvPr id="132" name="Google Shape;132;p21"/>
          <p:cNvPicPr preferRelativeResize="0"/>
          <p:nvPr/>
        </p:nvPicPr>
        <p:blipFill>
          <a:blip r:embed="rId3">
            <a:alphaModFix/>
          </a:blip>
          <a:stretch>
            <a:fillRect/>
          </a:stretch>
        </p:blipFill>
        <p:spPr>
          <a:xfrm>
            <a:off x="76200" y="2477300"/>
            <a:ext cx="8991599" cy="2573595"/>
          </a:xfrm>
          <a:prstGeom prst="rect">
            <a:avLst/>
          </a:prstGeom>
          <a:noFill/>
          <a:ln>
            <a:noFill/>
          </a:ln>
        </p:spPr>
      </p:pic>
      <p:sp>
        <p:nvSpPr>
          <p:cNvPr id="133" name="Google Shape;133;p21"/>
          <p:cNvSpPr/>
          <p:nvPr/>
        </p:nvSpPr>
        <p:spPr>
          <a:xfrm>
            <a:off x="6296425" y="2595275"/>
            <a:ext cx="208800" cy="292200"/>
          </a:xfrm>
          <a:prstGeom prst="downArrow">
            <a:avLst>
              <a:gd fmla="val 50000" name="adj1"/>
              <a:gd fmla="val 50000" name="adj2"/>
            </a:avLst>
          </a:prstGeom>
          <a:solidFill>
            <a:srgbClr val="990000"/>
          </a:solid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4" name="Google Shape;134;p21"/>
          <p:cNvSpPr/>
          <p:nvPr/>
        </p:nvSpPr>
        <p:spPr>
          <a:xfrm>
            <a:off x="7075125" y="2595275"/>
            <a:ext cx="208800" cy="292200"/>
          </a:xfrm>
          <a:prstGeom prst="downArrow">
            <a:avLst>
              <a:gd fmla="val 50000" name="adj1"/>
              <a:gd fmla="val 50000" name="adj2"/>
            </a:avLst>
          </a:prstGeom>
          <a:solidFill>
            <a:srgbClr val="990000"/>
          </a:solid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1"/>
          <p:cNvSpPr/>
          <p:nvPr/>
        </p:nvSpPr>
        <p:spPr>
          <a:xfrm>
            <a:off x="8321475" y="2595275"/>
            <a:ext cx="208800" cy="292200"/>
          </a:xfrm>
          <a:prstGeom prst="downArrow">
            <a:avLst>
              <a:gd fmla="val 50000" name="adj1"/>
              <a:gd fmla="val 50000" name="adj2"/>
            </a:avLst>
          </a:prstGeom>
          <a:solidFill>
            <a:srgbClr val="990000"/>
          </a:solid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136" name="Google Shape;136;p21"/>
          <p:cNvCxnSpPr/>
          <p:nvPr/>
        </p:nvCxnSpPr>
        <p:spPr>
          <a:xfrm>
            <a:off x="6235475" y="2435175"/>
            <a:ext cx="0" cy="2085300"/>
          </a:xfrm>
          <a:prstGeom prst="straightConnector1">
            <a:avLst/>
          </a:prstGeom>
          <a:noFill/>
          <a:ln cap="flat" cmpd="sng" w="19050">
            <a:solidFill>
              <a:srgbClr val="990000"/>
            </a:solidFill>
            <a:prstDash val="dash"/>
            <a:round/>
            <a:headEnd len="med" w="med" type="none"/>
            <a:tailEnd len="med" w="med" type="none"/>
          </a:ln>
        </p:spPr>
      </p:cxnSp>
      <p:sp>
        <p:nvSpPr>
          <p:cNvPr id="137" name="Google Shape;137;p21"/>
          <p:cNvSpPr txBox="1"/>
          <p:nvPr/>
        </p:nvSpPr>
        <p:spPr>
          <a:xfrm>
            <a:off x="6437225" y="2773775"/>
            <a:ext cx="2731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Variable Transformation - Stationary Variables</a:t>
            </a:r>
            <a:endParaRPr/>
          </a:p>
        </p:txBody>
      </p:sp>
      <p:sp>
        <p:nvSpPr>
          <p:cNvPr id="143" name="Google Shape;143;p22"/>
          <p:cNvSpPr txBox="1"/>
          <p:nvPr>
            <p:ph idx="1" type="body"/>
          </p:nvPr>
        </p:nvSpPr>
        <p:spPr>
          <a:xfrm>
            <a:off x="259350" y="1186900"/>
            <a:ext cx="8520600" cy="34770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Augmented Dickey-Fuller t</a:t>
            </a:r>
            <a:r>
              <a:rPr lang="en">
                <a:solidFill>
                  <a:schemeClr val="dk1"/>
                </a:solidFill>
              </a:rPr>
              <a:t>est</a:t>
            </a:r>
            <a:endParaRPr>
              <a:solidFill>
                <a:schemeClr val="dk1"/>
              </a:solidFill>
            </a:endParaRPr>
          </a:p>
          <a:p>
            <a:pPr indent="-342900" lvl="0" marL="457200" rtl="0" algn="l">
              <a:lnSpc>
                <a:spcPct val="150000"/>
              </a:lnSpc>
              <a:spcBef>
                <a:spcPts val="0"/>
              </a:spcBef>
              <a:spcAft>
                <a:spcPts val="0"/>
              </a:spcAft>
              <a:buClr>
                <a:schemeClr val="dk1"/>
              </a:buClr>
              <a:buSzPts val="1800"/>
              <a:buChar char="●"/>
            </a:pPr>
            <a:r>
              <a:rPr lang="en">
                <a:solidFill>
                  <a:schemeClr val="dk1"/>
                </a:solidFill>
              </a:rPr>
              <a:t>Stationary </a:t>
            </a:r>
            <a:r>
              <a:rPr lang="en">
                <a:solidFill>
                  <a:schemeClr val="dk1"/>
                </a:solidFill>
              </a:rPr>
              <a:t>Variables</a:t>
            </a:r>
            <a:endParaRPr>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VIX Price </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(p-value 0.000)</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Monthly Inflation </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(p-value 0.014</a:t>
            </a:r>
            <a:r>
              <a:rPr lang="en" sz="1800">
                <a:solidFill>
                  <a:schemeClr val="dk1"/>
                </a:solidFill>
              </a:rPr>
              <a:t>)</a:t>
            </a:r>
            <a:endParaRPr sz="1800">
              <a:solidFill>
                <a:schemeClr val="dk1"/>
              </a:solidFill>
            </a:endParaRPr>
          </a:p>
          <a:p>
            <a:pPr indent="-342900" lvl="1" marL="914400" rtl="0" algn="l">
              <a:lnSpc>
                <a:spcPct val="150000"/>
              </a:lnSpc>
              <a:spcBef>
                <a:spcPts val="0"/>
              </a:spcBef>
              <a:spcAft>
                <a:spcPts val="0"/>
              </a:spcAft>
              <a:buClr>
                <a:schemeClr val="dk1"/>
              </a:buClr>
              <a:buSzPts val="1800"/>
              <a:buChar char="○"/>
            </a:pPr>
            <a:r>
              <a:rPr lang="en" sz="1800">
                <a:solidFill>
                  <a:schemeClr val="dk1"/>
                </a:solidFill>
              </a:rPr>
              <a:t>Federal Funds Rate </a:t>
            </a:r>
            <a:endParaRPr sz="1800">
              <a:solidFill>
                <a:schemeClr val="dk1"/>
              </a:solidFill>
            </a:endParaRPr>
          </a:p>
          <a:p>
            <a:pPr indent="-342900" lvl="2" marL="1371600" rtl="0" algn="l">
              <a:lnSpc>
                <a:spcPct val="150000"/>
              </a:lnSpc>
              <a:spcBef>
                <a:spcPts val="0"/>
              </a:spcBef>
              <a:spcAft>
                <a:spcPts val="0"/>
              </a:spcAft>
              <a:buClr>
                <a:schemeClr val="dk1"/>
              </a:buClr>
              <a:buSzPts val="1800"/>
              <a:buChar char="■"/>
            </a:pPr>
            <a:r>
              <a:rPr lang="en" sz="1800">
                <a:solidFill>
                  <a:schemeClr val="dk1"/>
                </a:solidFill>
              </a:rPr>
              <a:t>(p-value 0.005)</a:t>
            </a:r>
            <a:endParaRPr sz="1800">
              <a:solidFill>
                <a:schemeClr val="dk1"/>
              </a:solidFill>
            </a:endParaRPr>
          </a:p>
        </p:txBody>
      </p:sp>
      <p:pic>
        <p:nvPicPr>
          <p:cNvPr id="144" name="Google Shape;144;p22"/>
          <p:cNvPicPr preferRelativeResize="0"/>
          <p:nvPr/>
        </p:nvPicPr>
        <p:blipFill>
          <a:blip r:embed="rId3">
            <a:alphaModFix/>
          </a:blip>
          <a:stretch>
            <a:fillRect/>
          </a:stretch>
        </p:blipFill>
        <p:spPr>
          <a:xfrm>
            <a:off x="4140750" y="1013425"/>
            <a:ext cx="4639200" cy="3823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a:t>
            </a:r>
            <a:r>
              <a:rPr lang="en"/>
              <a:t>Variable Transformation - Stationarity test</a:t>
            </a:r>
            <a:endParaRPr/>
          </a:p>
        </p:txBody>
      </p:sp>
      <p:pic>
        <p:nvPicPr>
          <p:cNvPr id="150" name="Google Shape;150;p23"/>
          <p:cNvPicPr preferRelativeResize="0"/>
          <p:nvPr/>
        </p:nvPicPr>
        <p:blipFill>
          <a:blip r:embed="rId3">
            <a:alphaModFix/>
          </a:blip>
          <a:stretch>
            <a:fillRect/>
          </a:stretch>
        </p:blipFill>
        <p:spPr>
          <a:xfrm>
            <a:off x="4572000" y="1531100"/>
            <a:ext cx="4355002" cy="3519600"/>
          </a:xfrm>
          <a:prstGeom prst="rect">
            <a:avLst/>
          </a:prstGeom>
          <a:noFill/>
          <a:ln>
            <a:noFill/>
          </a:ln>
        </p:spPr>
      </p:pic>
      <p:pic>
        <p:nvPicPr>
          <p:cNvPr id="151" name="Google Shape;151;p23"/>
          <p:cNvPicPr preferRelativeResize="0"/>
          <p:nvPr/>
        </p:nvPicPr>
        <p:blipFill>
          <a:blip r:embed="rId4">
            <a:alphaModFix/>
          </a:blip>
          <a:stretch>
            <a:fillRect/>
          </a:stretch>
        </p:blipFill>
        <p:spPr>
          <a:xfrm>
            <a:off x="189950" y="1531100"/>
            <a:ext cx="4331800" cy="3519600"/>
          </a:xfrm>
          <a:prstGeom prst="rect">
            <a:avLst/>
          </a:prstGeom>
          <a:noFill/>
          <a:ln>
            <a:noFill/>
          </a:ln>
        </p:spPr>
      </p:pic>
      <p:sp>
        <p:nvSpPr>
          <p:cNvPr id="152" name="Google Shape;152;p23"/>
          <p:cNvSpPr txBox="1"/>
          <p:nvPr>
            <p:ph idx="1" type="body"/>
          </p:nvPr>
        </p:nvSpPr>
        <p:spPr>
          <a:xfrm>
            <a:off x="311700" y="908742"/>
            <a:ext cx="8520600" cy="5727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Unemployment Rate: First difference (p-value </a:t>
            </a:r>
            <a:r>
              <a:rPr lang="en">
                <a:solidFill>
                  <a:schemeClr val="dk1"/>
                </a:solidFill>
              </a:rPr>
              <a:t>0.000)</a:t>
            </a:r>
            <a:endParaRPr sz="18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 </a:t>
            </a:r>
            <a:r>
              <a:rPr lang="en"/>
              <a:t>Variable Transformation - Stationarity test</a:t>
            </a:r>
            <a:endParaRPr/>
          </a:p>
        </p:txBody>
      </p:sp>
      <p:pic>
        <p:nvPicPr>
          <p:cNvPr id="158" name="Google Shape;158;p24"/>
          <p:cNvPicPr preferRelativeResize="0"/>
          <p:nvPr/>
        </p:nvPicPr>
        <p:blipFill>
          <a:blip r:embed="rId3">
            <a:alphaModFix/>
          </a:blip>
          <a:stretch>
            <a:fillRect/>
          </a:stretch>
        </p:blipFill>
        <p:spPr>
          <a:xfrm>
            <a:off x="4620700" y="1577300"/>
            <a:ext cx="4406675" cy="3427398"/>
          </a:xfrm>
          <a:prstGeom prst="rect">
            <a:avLst/>
          </a:prstGeom>
          <a:noFill/>
          <a:ln>
            <a:noFill/>
          </a:ln>
        </p:spPr>
      </p:pic>
      <p:pic>
        <p:nvPicPr>
          <p:cNvPr id="159" name="Google Shape;159;p24"/>
          <p:cNvPicPr preferRelativeResize="0"/>
          <p:nvPr/>
        </p:nvPicPr>
        <p:blipFill>
          <a:blip r:embed="rId4">
            <a:alphaModFix/>
          </a:blip>
          <a:stretch>
            <a:fillRect/>
          </a:stretch>
        </p:blipFill>
        <p:spPr>
          <a:xfrm>
            <a:off x="112975" y="1583150"/>
            <a:ext cx="4406675" cy="3415700"/>
          </a:xfrm>
          <a:prstGeom prst="rect">
            <a:avLst/>
          </a:prstGeom>
          <a:noFill/>
          <a:ln>
            <a:noFill/>
          </a:ln>
        </p:spPr>
      </p:pic>
      <p:sp>
        <p:nvSpPr>
          <p:cNvPr id="160" name="Google Shape;160;p24"/>
          <p:cNvSpPr txBox="1"/>
          <p:nvPr>
            <p:ph idx="1" type="body"/>
          </p:nvPr>
        </p:nvSpPr>
        <p:spPr>
          <a:xfrm>
            <a:off x="311700" y="908742"/>
            <a:ext cx="8520600" cy="572700"/>
          </a:xfrm>
          <a:prstGeom prst="rect">
            <a:avLst/>
          </a:prstGeom>
        </p:spPr>
        <p:txBody>
          <a:bodyPr anchorCtr="0" anchor="ctr"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Monthly Real GDP Index: Percentage Difference (p- value 0.000)</a:t>
            </a:r>
            <a:endParaRPr sz="18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Model Selection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a:t>
            </a:r>
            <a:r>
              <a:rPr lang="en"/>
              <a:t>. Target Variables - Monthly Inflation</a:t>
            </a:r>
            <a:endParaRPr/>
          </a:p>
        </p:txBody>
      </p:sp>
      <p:pic>
        <p:nvPicPr>
          <p:cNvPr id="171" name="Google Shape;171;p26"/>
          <p:cNvPicPr preferRelativeResize="0"/>
          <p:nvPr/>
        </p:nvPicPr>
        <p:blipFill>
          <a:blip r:embed="rId3">
            <a:alphaModFix/>
          </a:blip>
          <a:stretch>
            <a:fillRect/>
          </a:stretch>
        </p:blipFill>
        <p:spPr>
          <a:xfrm>
            <a:off x="173900" y="1665375"/>
            <a:ext cx="4345750" cy="3328144"/>
          </a:xfrm>
          <a:prstGeom prst="rect">
            <a:avLst/>
          </a:prstGeom>
          <a:noFill/>
          <a:ln>
            <a:noFill/>
          </a:ln>
        </p:spPr>
      </p:pic>
      <p:pic>
        <p:nvPicPr>
          <p:cNvPr id="172" name="Google Shape;172;p26"/>
          <p:cNvPicPr preferRelativeResize="0"/>
          <p:nvPr/>
        </p:nvPicPr>
        <p:blipFill>
          <a:blip r:embed="rId4">
            <a:alphaModFix/>
          </a:blip>
          <a:stretch>
            <a:fillRect/>
          </a:stretch>
        </p:blipFill>
        <p:spPr>
          <a:xfrm>
            <a:off x="4624325" y="1665350"/>
            <a:ext cx="4345750" cy="3328208"/>
          </a:xfrm>
          <a:prstGeom prst="rect">
            <a:avLst/>
          </a:prstGeom>
          <a:noFill/>
          <a:ln>
            <a:noFill/>
          </a:ln>
        </p:spPr>
      </p:pic>
      <p:sp>
        <p:nvSpPr>
          <p:cNvPr id="173" name="Google Shape;173;p26"/>
          <p:cNvSpPr/>
          <p:nvPr/>
        </p:nvSpPr>
        <p:spPr>
          <a:xfrm rot="-2875335">
            <a:off x="984022" y="2250434"/>
            <a:ext cx="324560" cy="188626"/>
          </a:xfrm>
          <a:prstGeom prst="leftArrow">
            <a:avLst>
              <a:gd fmla="val 50000" name="adj1"/>
              <a:gd fmla="val 50000" name="adj2"/>
            </a:avLst>
          </a:prstGeom>
          <a:solidFill>
            <a:srgbClr val="990000"/>
          </a:solid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4" name="Google Shape;174;p26"/>
          <p:cNvSpPr/>
          <p:nvPr/>
        </p:nvSpPr>
        <p:spPr>
          <a:xfrm rot="-2875335">
            <a:off x="1115497" y="2838134"/>
            <a:ext cx="324560" cy="188626"/>
          </a:xfrm>
          <a:prstGeom prst="leftArrow">
            <a:avLst>
              <a:gd fmla="val 50000" name="adj1"/>
              <a:gd fmla="val 50000" name="adj2"/>
            </a:avLst>
          </a:prstGeom>
          <a:solidFill>
            <a:srgbClr val="990000"/>
          </a:solid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5" name="Google Shape;175;p26"/>
          <p:cNvSpPr txBox="1"/>
          <p:nvPr>
            <p:ph idx="1" type="body"/>
          </p:nvPr>
        </p:nvSpPr>
        <p:spPr>
          <a:xfrm>
            <a:off x="311700" y="908742"/>
            <a:ext cx="8520600" cy="5727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ACF: Correlation at lag 1 and lag 2; Cuts off after lag 2</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7"/>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Target Variables - VIX Price</a:t>
            </a:r>
            <a:endParaRPr/>
          </a:p>
        </p:txBody>
      </p:sp>
      <p:pic>
        <p:nvPicPr>
          <p:cNvPr id="181" name="Google Shape;181;p27"/>
          <p:cNvPicPr preferRelativeResize="0"/>
          <p:nvPr/>
        </p:nvPicPr>
        <p:blipFill>
          <a:blip r:embed="rId3">
            <a:alphaModFix/>
          </a:blip>
          <a:stretch>
            <a:fillRect/>
          </a:stretch>
        </p:blipFill>
        <p:spPr>
          <a:xfrm>
            <a:off x="179363" y="1654890"/>
            <a:ext cx="4345750" cy="3328173"/>
          </a:xfrm>
          <a:prstGeom prst="rect">
            <a:avLst/>
          </a:prstGeom>
          <a:noFill/>
          <a:ln>
            <a:noFill/>
          </a:ln>
        </p:spPr>
      </p:pic>
      <p:pic>
        <p:nvPicPr>
          <p:cNvPr id="182" name="Google Shape;182;p27"/>
          <p:cNvPicPr preferRelativeResize="0"/>
          <p:nvPr/>
        </p:nvPicPr>
        <p:blipFill>
          <a:blip r:embed="rId4">
            <a:alphaModFix/>
          </a:blip>
          <a:stretch>
            <a:fillRect/>
          </a:stretch>
        </p:blipFill>
        <p:spPr>
          <a:xfrm>
            <a:off x="4618888" y="1654901"/>
            <a:ext cx="4345750" cy="3328171"/>
          </a:xfrm>
          <a:prstGeom prst="rect">
            <a:avLst/>
          </a:prstGeom>
          <a:noFill/>
          <a:ln>
            <a:noFill/>
          </a:ln>
        </p:spPr>
      </p:pic>
      <p:sp>
        <p:nvSpPr>
          <p:cNvPr id="183" name="Google Shape;183;p27"/>
          <p:cNvSpPr/>
          <p:nvPr/>
        </p:nvSpPr>
        <p:spPr>
          <a:xfrm rot="-808261">
            <a:off x="5515419" y="2053031"/>
            <a:ext cx="324528" cy="188530"/>
          </a:xfrm>
          <a:prstGeom prst="leftArrow">
            <a:avLst>
              <a:gd fmla="val 50000" name="adj1"/>
              <a:gd fmla="val 50000" name="adj2"/>
            </a:avLst>
          </a:prstGeom>
          <a:solidFill>
            <a:srgbClr val="990000"/>
          </a:solidFill>
          <a:ln cap="flat" cmpd="sng" w="9525">
            <a:solidFill>
              <a:srgbClr val="99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4" name="Google Shape;184;p27"/>
          <p:cNvSpPr txBox="1"/>
          <p:nvPr>
            <p:ph idx="1" type="body"/>
          </p:nvPr>
        </p:nvSpPr>
        <p:spPr>
          <a:xfrm>
            <a:off x="311700" y="908742"/>
            <a:ext cx="8520600" cy="572700"/>
          </a:xfrm>
          <a:prstGeom prst="rect">
            <a:avLst/>
          </a:prstGeom>
        </p:spPr>
        <p:txBody>
          <a:bodyPr anchorCtr="0" anchor="ctr" bIns="91425" lIns="91425" spcFirstLastPara="1" rIns="91425" wrap="square" tIns="91425">
            <a:normAutofit/>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PACF: Correlation at lag 1; Cuts off after lag 1</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8"/>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Target Variables</a:t>
            </a:r>
            <a:endParaRPr/>
          </a:p>
        </p:txBody>
      </p:sp>
      <p:graphicFrame>
        <p:nvGraphicFramePr>
          <p:cNvPr id="190" name="Google Shape;190;p28"/>
          <p:cNvGraphicFramePr/>
          <p:nvPr/>
        </p:nvGraphicFramePr>
        <p:xfrm>
          <a:off x="575700" y="1682975"/>
          <a:ext cx="3000000" cy="3000000"/>
        </p:xfrm>
        <a:graphic>
          <a:graphicData uri="http://schemas.openxmlformats.org/drawingml/2006/table">
            <a:tbl>
              <a:tblPr>
                <a:noFill/>
                <a:tableStyleId>{59F79B23-F705-4436-ACE7-018CA092DD60}</a:tableStyleId>
              </a:tblPr>
              <a:tblGrid>
                <a:gridCol w="1998150"/>
                <a:gridCol w="1998150"/>
                <a:gridCol w="1998150"/>
                <a:gridCol w="1998150"/>
              </a:tblGrid>
              <a:tr h="436000">
                <a:tc>
                  <a:txBody>
                    <a:bodyPr/>
                    <a:lstStyle/>
                    <a:p>
                      <a:pPr indent="0" lvl="0" marL="0" rtl="0" algn="ctr">
                        <a:spcBef>
                          <a:spcPts val="0"/>
                        </a:spcBef>
                        <a:spcAft>
                          <a:spcPts val="0"/>
                        </a:spcAft>
                        <a:buNone/>
                      </a:pPr>
                      <a:r>
                        <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AR(𝑝)</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MA(𝑞)</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ARMA(𝑝,𝑞)</a:t>
                      </a:r>
                      <a:endParaRPr sz="1600">
                        <a:solidFill>
                          <a:schemeClr val="dk1"/>
                        </a:solidFill>
                      </a:endParaRPr>
                    </a:p>
                  </a:txBody>
                  <a:tcPr marT="91425" marB="91425" marR="91425" marL="91425"/>
                </a:tc>
              </a:tr>
              <a:tr h="670775">
                <a:tc>
                  <a:txBody>
                    <a:bodyPr/>
                    <a:lstStyle/>
                    <a:p>
                      <a:pPr indent="0" lvl="0" marL="0" rtl="0" algn="ctr">
                        <a:spcBef>
                          <a:spcPts val="0"/>
                        </a:spcBef>
                        <a:spcAft>
                          <a:spcPts val="0"/>
                        </a:spcAft>
                        <a:buNone/>
                      </a:pPr>
                      <a:r>
                        <a:rPr lang="en" sz="1600">
                          <a:solidFill>
                            <a:schemeClr val="dk1"/>
                          </a:solidFill>
                        </a:rPr>
                        <a:t>ACF</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Significant at lag 𝑞</a:t>
                      </a:r>
                      <a:endParaRPr sz="1600">
                        <a:solidFill>
                          <a:schemeClr val="dk1"/>
                        </a:solidFill>
                      </a:endParaRPr>
                    </a:p>
                    <a:p>
                      <a:pPr indent="0" lvl="0" marL="0" rtl="0" algn="ctr">
                        <a:spcBef>
                          <a:spcPts val="0"/>
                        </a:spcBef>
                        <a:spcAft>
                          <a:spcPts val="0"/>
                        </a:spcAft>
                        <a:buNone/>
                      </a:pPr>
                      <a:r>
                        <a:rPr lang="en" sz="1600">
                          <a:solidFill>
                            <a:schemeClr val="dk1"/>
                          </a:solidFill>
                        </a:rPr>
                        <a:t>Cuts off after lag 𝑞</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r>
              <a:tr h="670775">
                <a:tc>
                  <a:txBody>
                    <a:bodyPr/>
                    <a:lstStyle/>
                    <a:p>
                      <a:pPr indent="0" lvl="0" marL="0" rtl="0" algn="ctr">
                        <a:spcBef>
                          <a:spcPts val="0"/>
                        </a:spcBef>
                        <a:spcAft>
                          <a:spcPts val="0"/>
                        </a:spcAft>
                        <a:buNone/>
                      </a:pPr>
                      <a:r>
                        <a:rPr lang="en" sz="1600">
                          <a:solidFill>
                            <a:schemeClr val="dk1"/>
                          </a:solidFill>
                        </a:rPr>
                        <a:t>PACF</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Significant at lag 𝑝</a:t>
                      </a:r>
                      <a:endParaRPr sz="1600">
                        <a:solidFill>
                          <a:schemeClr val="dk1"/>
                        </a:solidFill>
                      </a:endParaRPr>
                    </a:p>
                    <a:p>
                      <a:pPr indent="0" lvl="0" marL="0" rtl="0" algn="ctr">
                        <a:spcBef>
                          <a:spcPts val="0"/>
                        </a:spcBef>
                        <a:spcAft>
                          <a:spcPts val="0"/>
                        </a:spcAft>
                        <a:buNone/>
                      </a:pPr>
                      <a:r>
                        <a:rPr lang="en" sz="1600">
                          <a:solidFill>
                            <a:schemeClr val="dk1"/>
                          </a:solidFill>
                        </a:rPr>
                        <a:t>Cuts off after lag 𝑝</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r>
            </a:tbl>
          </a:graphicData>
        </a:graphic>
      </p:graphicFrame>
      <p:sp>
        <p:nvSpPr>
          <p:cNvPr id="191" name="Google Shape;191;p28"/>
          <p:cNvSpPr txBox="1"/>
          <p:nvPr/>
        </p:nvSpPr>
        <p:spPr>
          <a:xfrm>
            <a:off x="2573850" y="3808125"/>
            <a:ext cx="1950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VARX(𝑝)</a:t>
            </a:r>
            <a:endParaRPr sz="2000">
              <a:solidFill>
                <a:schemeClr val="dk1"/>
              </a:solidFill>
            </a:endParaRPr>
          </a:p>
        </p:txBody>
      </p:sp>
      <p:sp>
        <p:nvSpPr>
          <p:cNvPr id="192" name="Google Shape;192;p28"/>
          <p:cNvSpPr txBox="1"/>
          <p:nvPr/>
        </p:nvSpPr>
        <p:spPr>
          <a:xfrm>
            <a:off x="4571995" y="3808125"/>
            <a:ext cx="19983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VMAX(𝑞)</a:t>
            </a:r>
            <a:endParaRPr sz="2000">
              <a:solidFill>
                <a:schemeClr val="dk1"/>
              </a:solidFill>
            </a:endParaRPr>
          </a:p>
        </p:txBody>
      </p:sp>
      <p:sp>
        <p:nvSpPr>
          <p:cNvPr id="193" name="Google Shape;193;p28"/>
          <p:cNvSpPr txBox="1"/>
          <p:nvPr/>
        </p:nvSpPr>
        <p:spPr>
          <a:xfrm>
            <a:off x="6570141" y="3808125"/>
            <a:ext cx="1950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VARMAX(𝑝,𝑞)</a:t>
            </a:r>
            <a:endParaRPr sz="2000">
              <a:solidFill>
                <a:schemeClr val="dk1"/>
              </a:solidFill>
            </a:endParaRPr>
          </a:p>
        </p:txBody>
      </p:sp>
      <p:sp>
        <p:nvSpPr>
          <p:cNvPr id="194" name="Google Shape;194;p28"/>
          <p:cNvSpPr txBox="1"/>
          <p:nvPr/>
        </p:nvSpPr>
        <p:spPr>
          <a:xfrm>
            <a:off x="622950" y="3808125"/>
            <a:ext cx="1950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Multivariate Version</a:t>
            </a:r>
            <a:endParaRPr sz="2000">
              <a:solidFill>
                <a:schemeClr val="dk1"/>
              </a:solidFill>
            </a:endParaRPr>
          </a:p>
        </p:txBody>
      </p:sp>
      <p:sp>
        <p:nvSpPr>
          <p:cNvPr id="195" name="Google Shape;195;p28"/>
          <p:cNvSpPr/>
          <p:nvPr/>
        </p:nvSpPr>
        <p:spPr>
          <a:xfrm>
            <a:off x="3427125" y="3460525"/>
            <a:ext cx="291600" cy="408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6" name="Google Shape;196;p28"/>
          <p:cNvSpPr/>
          <p:nvPr/>
        </p:nvSpPr>
        <p:spPr>
          <a:xfrm>
            <a:off x="5425350" y="3460525"/>
            <a:ext cx="291600" cy="408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28"/>
          <p:cNvSpPr/>
          <p:nvPr/>
        </p:nvSpPr>
        <p:spPr>
          <a:xfrm>
            <a:off x="7423575" y="3460525"/>
            <a:ext cx="291600" cy="408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Target Variables</a:t>
            </a:r>
            <a:endParaRPr/>
          </a:p>
        </p:txBody>
      </p:sp>
      <p:graphicFrame>
        <p:nvGraphicFramePr>
          <p:cNvPr id="203" name="Google Shape;203;p29"/>
          <p:cNvGraphicFramePr/>
          <p:nvPr/>
        </p:nvGraphicFramePr>
        <p:xfrm>
          <a:off x="575700" y="2225325"/>
          <a:ext cx="3000000" cy="3000000"/>
        </p:xfrm>
        <a:graphic>
          <a:graphicData uri="http://schemas.openxmlformats.org/drawingml/2006/table">
            <a:tbl>
              <a:tblPr>
                <a:noFill/>
                <a:tableStyleId>{59F79B23-F705-4436-ACE7-018CA092DD60}</a:tableStyleId>
              </a:tblPr>
              <a:tblGrid>
                <a:gridCol w="1998150"/>
                <a:gridCol w="1998150"/>
                <a:gridCol w="1998150"/>
                <a:gridCol w="1998150"/>
              </a:tblGrid>
              <a:tr h="436000">
                <a:tc>
                  <a:txBody>
                    <a:bodyPr/>
                    <a:lstStyle/>
                    <a:p>
                      <a:pPr indent="0" lvl="0" marL="0" rtl="0" algn="ctr">
                        <a:spcBef>
                          <a:spcPts val="0"/>
                        </a:spcBef>
                        <a:spcAft>
                          <a:spcPts val="0"/>
                        </a:spcAft>
                        <a:buNone/>
                      </a:pPr>
                      <a:r>
                        <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AR(𝑝)</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MA(𝑞)</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ARMA(</a:t>
                      </a:r>
                      <a:r>
                        <a:rPr lang="en" sz="1600">
                          <a:solidFill>
                            <a:schemeClr val="dk1"/>
                          </a:solidFill>
                        </a:rPr>
                        <a:t>𝑝</a:t>
                      </a:r>
                      <a:r>
                        <a:rPr lang="en" sz="1600">
                          <a:solidFill>
                            <a:schemeClr val="dk1"/>
                          </a:solidFill>
                        </a:rPr>
                        <a:t>,</a:t>
                      </a:r>
                      <a:r>
                        <a:rPr lang="en" sz="1600">
                          <a:solidFill>
                            <a:schemeClr val="dk1"/>
                          </a:solidFill>
                        </a:rPr>
                        <a:t>𝑞</a:t>
                      </a:r>
                      <a:r>
                        <a:rPr lang="en" sz="1600">
                          <a:solidFill>
                            <a:schemeClr val="dk1"/>
                          </a:solidFill>
                        </a:rPr>
                        <a:t>)</a:t>
                      </a:r>
                      <a:endParaRPr sz="1600">
                        <a:solidFill>
                          <a:schemeClr val="dk1"/>
                        </a:solidFill>
                      </a:endParaRPr>
                    </a:p>
                  </a:txBody>
                  <a:tcPr marT="91425" marB="91425" marR="91425" marL="91425"/>
                </a:tc>
              </a:tr>
              <a:tr h="670775">
                <a:tc>
                  <a:txBody>
                    <a:bodyPr/>
                    <a:lstStyle/>
                    <a:p>
                      <a:pPr indent="0" lvl="0" marL="0" rtl="0" algn="ctr">
                        <a:spcBef>
                          <a:spcPts val="0"/>
                        </a:spcBef>
                        <a:spcAft>
                          <a:spcPts val="0"/>
                        </a:spcAft>
                        <a:buNone/>
                      </a:pPr>
                      <a:r>
                        <a:rPr lang="en" sz="1600">
                          <a:solidFill>
                            <a:schemeClr val="dk1"/>
                          </a:solidFill>
                        </a:rPr>
                        <a:t>ACF</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Significant at lag 𝑞</a:t>
                      </a:r>
                      <a:endParaRPr sz="1600">
                        <a:solidFill>
                          <a:schemeClr val="dk1"/>
                        </a:solidFill>
                      </a:endParaRPr>
                    </a:p>
                    <a:p>
                      <a:pPr indent="0" lvl="0" marL="0" rtl="0" algn="ctr">
                        <a:spcBef>
                          <a:spcPts val="0"/>
                        </a:spcBef>
                        <a:spcAft>
                          <a:spcPts val="0"/>
                        </a:spcAft>
                        <a:buNone/>
                      </a:pPr>
                      <a:r>
                        <a:rPr lang="en" sz="1600">
                          <a:solidFill>
                            <a:schemeClr val="dk1"/>
                          </a:solidFill>
                        </a:rPr>
                        <a:t>Cuts off after lag 𝑞</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r>
              <a:tr h="670775">
                <a:tc>
                  <a:txBody>
                    <a:bodyPr/>
                    <a:lstStyle/>
                    <a:p>
                      <a:pPr indent="0" lvl="0" marL="0" rtl="0" algn="ctr">
                        <a:spcBef>
                          <a:spcPts val="0"/>
                        </a:spcBef>
                        <a:spcAft>
                          <a:spcPts val="0"/>
                        </a:spcAft>
                        <a:buNone/>
                      </a:pPr>
                      <a:r>
                        <a:rPr lang="en" sz="1600">
                          <a:solidFill>
                            <a:schemeClr val="dk1"/>
                          </a:solidFill>
                        </a:rPr>
                        <a:t>PACF</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Significant at lag 𝑝</a:t>
                      </a:r>
                      <a:endParaRPr sz="1600">
                        <a:solidFill>
                          <a:schemeClr val="dk1"/>
                        </a:solidFill>
                      </a:endParaRPr>
                    </a:p>
                    <a:p>
                      <a:pPr indent="0" lvl="0" marL="0" rtl="0" algn="ctr">
                        <a:spcBef>
                          <a:spcPts val="0"/>
                        </a:spcBef>
                        <a:spcAft>
                          <a:spcPts val="0"/>
                        </a:spcAft>
                        <a:buNone/>
                      </a:pPr>
                      <a:r>
                        <a:rPr lang="en" sz="1600">
                          <a:solidFill>
                            <a:schemeClr val="dk1"/>
                          </a:solidFill>
                        </a:rPr>
                        <a:t>Cuts off after lag 𝑝</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c>
                  <a:txBody>
                    <a:bodyPr/>
                    <a:lstStyle/>
                    <a:p>
                      <a:pPr indent="0" lvl="0" marL="0" rtl="0" algn="ctr">
                        <a:spcBef>
                          <a:spcPts val="0"/>
                        </a:spcBef>
                        <a:spcAft>
                          <a:spcPts val="0"/>
                        </a:spcAft>
                        <a:buNone/>
                      </a:pPr>
                      <a:r>
                        <a:rPr lang="en" sz="1600">
                          <a:solidFill>
                            <a:schemeClr val="dk1"/>
                          </a:solidFill>
                        </a:rPr>
                        <a:t>Tails off </a:t>
                      </a:r>
                      <a:endParaRPr sz="1600">
                        <a:solidFill>
                          <a:schemeClr val="dk1"/>
                        </a:solidFill>
                      </a:endParaRPr>
                    </a:p>
                    <a:p>
                      <a:pPr indent="0" lvl="0" marL="0" rtl="0" algn="ctr">
                        <a:spcBef>
                          <a:spcPts val="0"/>
                        </a:spcBef>
                        <a:spcAft>
                          <a:spcPts val="0"/>
                        </a:spcAft>
                        <a:buNone/>
                      </a:pPr>
                      <a:r>
                        <a:rPr lang="en" sz="1600">
                          <a:solidFill>
                            <a:schemeClr val="dk1"/>
                          </a:solidFill>
                        </a:rPr>
                        <a:t>(Geometric decay)</a:t>
                      </a:r>
                      <a:endParaRPr sz="1600">
                        <a:solidFill>
                          <a:schemeClr val="dk1"/>
                        </a:solidFill>
                      </a:endParaRPr>
                    </a:p>
                  </a:txBody>
                  <a:tcPr marT="91425" marB="91425" marR="91425" marL="91425"/>
                </a:tc>
              </a:tr>
            </a:tbl>
          </a:graphicData>
        </a:graphic>
      </p:graphicFrame>
      <p:sp>
        <p:nvSpPr>
          <p:cNvPr id="204" name="Google Shape;204;p29"/>
          <p:cNvSpPr txBox="1"/>
          <p:nvPr/>
        </p:nvSpPr>
        <p:spPr>
          <a:xfrm>
            <a:off x="2573850" y="4408800"/>
            <a:ext cx="1950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VARX(</a:t>
            </a:r>
            <a:r>
              <a:rPr lang="en" sz="2000">
                <a:solidFill>
                  <a:schemeClr val="dk1"/>
                </a:solidFill>
              </a:rPr>
              <a:t>𝑝</a:t>
            </a:r>
            <a:r>
              <a:rPr lang="en" sz="2000">
                <a:solidFill>
                  <a:schemeClr val="dk1"/>
                </a:solidFill>
              </a:rPr>
              <a:t>)</a:t>
            </a:r>
            <a:endParaRPr sz="2000">
              <a:solidFill>
                <a:schemeClr val="dk1"/>
              </a:solidFill>
            </a:endParaRPr>
          </a:p>
        </p:txBody>
      </p:sp>
      <p:sp>
        <p:nvSpPr>
          <p:cNvPr id="205" name="Google Shape;205;p29"/>
          <p:cNvSpPr txBox="1"/>
          <p:nvPr/>
        </p:nvSpPr>
        <p:spPr>
          <a:xfrm>
            <a:off x="4571995" y="4408800"/>
            <a:ext cx="19983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VMAX(</a:t>
            </a:r>
            <a:r>
              <a:rPr lang="en" sz="2000">
                <a:solidFill>
                  <a:schemeClr val="dk1"/>
                </a:solidFill>
              </a:rPr>
              <a:t>𝑞</a:t>
            </a:r>
            <a:r>
              <a:rPr lang="en" sz="2000">
                <a:solidFill>
                  <a:schemeClr val="dk1"/>
                </a:solidFill>
              </a:rPr>
              <a:t>)</a:t>
            </a:r>
            <a:endParaRPr sz="2000">
              <a:solidFill>
                <a:schemeClr val="dk1"/>
              </a:solidFill>
            </a:endParaRPr>
          </a:p>
        </p:txBody>
      </p:sp>
      <p:sp>
        <p:nvSpPr>
          <p:cNvPr id="206" name="Google Shape;206;p29"/>
          <p:cNvSpPr txBox="1"/>
          <p:nvPr/>
        </p:nvSpPr>
        <p:spPr>
          <a:xfrm>
            <a:off x="6570141" y="4408800"/>
            <a:ext cx="1950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VARMAX(</a:t>
            </a:r>
            <a:r>
              <a:rPr lang="en" sz="2000">
                <a:solidFill>
                  <a:schemeClr val="dk1"/>
                </a:solidFill>
              </a:rPr>
              <a:t>𝑝,𝑞</a:t>
            </a:r>
            <a:r>
              <a:rPr lang="en" sz="2000">
                <a:solidFill>
                  <a:schemeClr val="dk1"/>
                </a:solidFill>
              </a:rPr>
              <a:t>)</a:t>
            </a:r>
            <a:endParaRPr sz="2000">
              <a:solidFill>
                <a:schemeClr val="dk1"/>
              </a:solidFill>
            </a:endParaRPr>
          </a:p>
        </p:txBody>
      </p:sp>
      <p:sp>
        <p:nvSpPr>
          <p:cNvPr id="207" name="Google Shape;207;p29"/>
          <p:cNvSpPr txBox="1"/>
          <p:nvPr/>
        </p:nvSpPr>
        <p:spPr>
          <a:xfrm>
            <a:off x="622950" y="4408800"/>
            <a:ext cx="1950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chemeClr val="dk1"/>
                </a:solidFill>
              </a:rPr>
              <a:t>Multivariate Version</a:t>
            </a:r>
            <a:endParaRPr sz="2000">
              <a:solidFill>
                <a:schemeClr val="dk1"/>
              </a:solidFill>
            </a:endParaRPr>
          </a:p>
        </p:txBody>
      </p:sp>
      <p:sp>
        <p:nvSpPr>
          <p:cNvPr id="208" name="Google Shape;208;p29"/>
          <p:cNvSpPr/>
          <p:nvPr/>
        </p:nvSpPr>
        <p:spPr>
          <a:xfrm>
            <a:off x="3427125" y="4061200"/>
            <a:ext cx="291600" cy="408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9" name="Google Shape;209;p29"/>
          <p:cNvSpPr/>
          <p:nvPr/>
        </p:nvSpPr>
        <p:spPr>
          <a:xfrm>
            <a:off x="5425350" y="4061200"/>
            <a:ext cx="291600" cy="408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0" name="Google Shape;210;p29"/>
          <p:cNvSpPr/>
          <p:nvPr/>
        </p:nvSpPr>
        <p:spPr>
          <a:xfrm>
            <a:off x="7423575" y="4061200"/>
            <a:ext cx="291600" cy="4083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1" name="Google Shape;211;p29"/>
          <p:cNvSpPr txBox="1"/>
          <p:nvPr/>
        </p:nvSpPr>
        <p:spPr>
          <a:xfrm>
            <a:off x="4262700" y="985050"/>
            <a:ext cx="2616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CC4125"/>
                </a:solidFill>
              </a:rPr>
              <a:t>Monthly Inflation</a:t>
            </a:r>
            <a:endParaRPr sz="2000">
              <a:solidFill>
                <a:srgbClr val="CC4125"/>
              </a:solidFill>
            </a:endParaRPr>
          </a:p>
          <a:p>
            <a:pPr indent="0" lvl="0" marL="0" rtl="0" algn="ctr">
              <a:spcBef>
                <a:spcPts val="0"/>
              </a:spcBef>
              <a:spcAft>
                <a:spcPts val="0"/>
              </a:spcAft>
              <a:buNone/>
            </a:pPr>
            <a:r>
              <a:rPr lang="en" sz="2000">
                <a:solidFill>
                  <a:srgbClr val="CC4125"/>
                </a:solidFill>
              </a:rPr>
              <a:t>MA(2)</a:t>
            </a:r>
            <a:endParaRPr sz="2000">
              <a:solidFill>
                <a:srgbClr val="CC4125"/>
              </a:solidFill>
            </a:endParaRPr>
          </a:p>
        </p:txBody>
      </p:sp>
      <p:sp>
        <p:nvSpPr>
          <p:cNvPr id="212" name="Google Shape;212;p29"/>
          <p:cNvSpPr txBox="1"/>
          <p:nvPr/>
        </p:nvSpPr>
        <p:spPr>
          <a:xfrm>
            <a:off x="2240850" y="985050"/>
            <a:ext cx="2616900" cy="572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
                <a:solidFill>
                  <a:srgbClr val="CC4125"/>
                </a:solidFill>
              </a:rPr>
              <a:t>VIX Price</a:t>
            </a:r>
            <a:endParaRPr sz="2000">
              <a:solidFill>
                <a:srgbClr val="CC4125"/>
              </a:solidFill>
            </a:endParaRPr>
          </a:p>
          <a:p>
            <a:pPr indent="0" lvl="0" marL="0" rtl="0" algn="ctr">
              <a:spcBef>
                <a:spcPts val="0"/>
              </a:spcBef>
              <a:spcAft>
                <a:spcPts val="0"/>
              </a:spcAft>
              <a:buNone/>
            </a:pPr>
            <a:r>
              <a:rPr lang="en" sz="2000">
                <a:solidFill>
                  <a:srgbClr val="CC4125"/>
                </a:solidFill>
              </a:rPr>
              <a:t>AR(1)</a:t>
            </a:r>
            <a:endParaRPr sz="2000">
              <a:solidFill>
                <a:srgbClr val="CC4125"/>
              </a:solidFill>
            </a:endParaRPr>
          </a:p>
        </p:txBody>
      </p:sp>
      <p:sp>
        <p:nvSpPr>
          <p:cNvPr id="213" name="Google Shape;213;p29"/>
          <p:cNvSpPr/>
          <p:nvPr/>
        </p:nvSpPr>
        <p:spPr>
          <a:xfrm>
            <a:off x="3403500" y="1634038"/>
            <a:ext cx="291600" cy="408300"/>
          </a:xfrm>
          <a:prstGeom prst="upArrow">
            <a:avLst>
              <a:gd fmla="val 50000" name="adj1"/>
              <a:gd fmla="val 50000" name="adj2"/>
            </a:avLst>
          </a:prstGeom>
          <a:solidFill>
            <a:srgbClr val="CC4125"/>
          </a:solid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4125"/>
              </a:solidFill>
            </a:endParaRPr>
          </a:p>
        </p:txBody>
      </p:sp>
      <p:sp>
        <p:nvSpPr>
          <p:cNvPr id="214" name="Google Shape;214;p29"/>
          <p:cNvSpPr/>
          <p:nvPr/>
        </p:nvSpPr>
        <p:spPr>
          <a:xfrm>
            <a:off x="5425350" y="1634050"/>
            <a:ext cx="291600" cy="408300"/>
          </a:xfrm>
          <a:prstGeom prst="upArrow">
            <a:avLst>
              <a:gd fmla="val 50000" name="adj1"/>
              <a:gd fmla="val 50000" name="adj2"/>
            </a:avLst>
          </a:prstGeom>
          <a:solidFill>
            <a:srgbClr val="CC4125"/>
          </a:solidFill>
          <a:ln cap="flat" cmpd="sng" w="9525">
            <a:solidFill>
              <a:srgbClr val="CC412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CC4125"/>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0"/>
          <p:cNvSpPr txBox="1"/>
          <p:nvPr>
            <p:ph type="title"/>
          </p:nvPr>
        </p:nvSpPr>
        <p:spPr>
          <a:xfrm>
            <a:off x="311700" y="336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4. Model Selection</a:t>
            </a:r>
            <a:endParaRPr/>
          </a:p>
        </p:txBody>
      </p:sp>
      <p:sp>
        <p:nvSpPr>
          <p:cNvPr id="220" name="Google Shape;220;p30"/>
          <p:cNvSpPr txBox="1"/>
          <p:nvPr>
            <p:ph idx="1" type="body"/>
          </p:nvPr>
        </p:nvSpPr>
        <p:spPr>
          <a:xfrm>
            <a:off x="335525" y="908750"/>
            <a:ext cx="8520600" cy="3853800"/>
          </a:xfrm>
          <a:prstGeom prst="rect">
            <a:avLst/>
          </a:prstGeom>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Clr>
                <a:schemeClr val="dk1"/>
              </a:buClr>
              <a:buSzPts val="1800"/>
              <a:buChar char="●"/>
            </a:pPr>
            <a:r>
              <a:rPr lang="en">
                <a:solidFill>
                  <a:schemeClr val="dk1"/>
                </a:solidFill>
              </a:rPr>
              <a:t>Objective: Interaction between 2 series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Task: capture the interactions between Monthly Inflation and VIX Price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
                <a:solidFill>
                  <a:schemeClr val="dk1"/>
                </a:solidFill>
              </a:rPr>
              <a:t>Question: </a:t>
            </a:r>
            <a:r>
              <a:rPr b="1" lang="en" u="sng">
                <a:solidFill>
                  <a:schemeClr val="dk1"/>
                </a:solidFill>
              </a:rPr>
              <a:t>“Does one of them help in predicting the other?”</a:t>
            </a:r>
            <a:endParaRPr b="1" u="sng">
              <a:solidFill>
                <a:schemeClr val="dk1"/>
              </a:solidFill>
            </a:endParaRPr>
          </a:p>
          <a:p>
            <a:pPr indent="0" lvl="0" marL="0" rtl="0" algn="l">
              <a:lnSpc>
                <a:spcPct val="115000"/>
              </a:lnSpc>
              <a:spcBef>
                <a:spcPts val="1200"/>
              </a:spcBef>
              <a:spcAft>
                <a:spcPts val="0"/>
              </a:spcAft>
              <a:buNone/>
            </a:pPr>
            <a:r>
              <a:t/>
            </a:r>
            <a:endParaRPr b="1" u="sng">
              <a:solidFill>
                <a:schemeClr val="dk1"/>
              </a:solidFill>
            </a:endParaRPr>
          </a:p>
          <a:p>
            <a:pPr indent="-342900" lvl="0" marL="457200" rtl="0" algn="l">
              <a:lnSpc>
                <a:spcPct val="115000"/>
              </a:lnSpc>
              <a:spcBef>
                <a:spcPts val="1200"/>
              </a:spcBef>
              <a:spcAft>
                <a:spcPts val="0"/>
              </a:spcAft>
              <a:buClr>
                <a:schemeClr val="dk1"/>
              </a:buClr>
              <a:buSzPts val="1800"/>
              <a:buChar char="●"/>
            </a:pPr>
            <a:r>
              <a:rPr lang="en" u="sng">
                <a:solidFill>
                  <a:schemeClr val="dk1"/>
                </a:solidFill>
              </a:rPr>
              <a:t>Multivariate Time Series Model with Exogenous Variable:</a:t>
            </a:r>
            <a:endParaRPr u="sng">
              <a:solidFill>
                <a:schemeClr val="dk1"/>
              </a:solidFill>
            </a:endParaRPr>
          </a:p>
          <a:p>
            <a:pPr indent="-342900" lvl="1" marL="914400" rtl="0" algn="l">
              <a:lnSpc>
                <a:spcPct val="115000"/>
              </a:lnSpc>
              <a:spcBef>
                <a:spcPts val="0"/>
              </a:spcBef>
              <a:spcAft>
                <a:spcPts val="0"/>
              </a:spcAft>
              <a:buClr>
                <a:schemeClr val="dk1"/>
              </a:buClr>
              <a:buSzPts val="1800"/>
              <a:buChar char="○"/>
            </a:pPr>
            <a:r>
              <a:rPr lang="en" sz="1800">
                <a:solidFill>
                  <a:schemeClr val="dk1"/>
                </a:solidFill>
              </a:rPr>
              <a:t>VARX(𝑝); VMAX(𝑞); VARMAX(𝑝,𝑞)</a:t>
            </a:r>
            <a:endParaRPr sz="1800">
              <a:solidFill>
                <a:schemeClr val="dk1"/>
              </a:solidFill>
            </a:endParaRPr>
          </a:p>
          <a:p>
            <a:pPr indent="0" lvl="0" marL="0" rtl="0" algn="l">
              <a:lnSpc>
                <a:spcPct val="115000"/>
              </a:lnSpc>
              <a:spcBef>
                <a:spcPts val="1200"/>
              </a:spcBef>
              <a:spcAft>
                <a:spcPts val="0"/>
              </a:spcAft>
              <a:buNone/>
            </a:pPr>
            <a:r>
              <a:t/>
            </a:r>
            <a:endParaRPr sz="1800">
              <a:solidFill>
                <a:schemeClr val="dk1"/>
              </a:solidFill>
            </a:endParaRPr>
          </a:p>
          <a:p>
            <a:pPr indent="-342900" lvl="0" marL="457200" rtl="0" algn="l">
              <a:lnSpc>
                <a:spcPct val="115000"/>
              </a:lnSpc>
              <a:spcBef>
                <a:spcPts val="1200"/>
              </a:spcBef>
              <a:spcAft>
                <a:spcPts val="0"/>
              </a:spcAft>
              <a:buClr>
                <a:schemeClr val="dk1"/>
              </a:buClr>
              <a:buSzPts val="1800"/>
              <a:buChar char="●"/>
            </a:pPr>
            <a:r>
              <a:rPr lang="en">
                <a:solidFill>
                  <a:schemeClr val="dk1"/>
                </a:solidFill>
              </a:rPr>
              <a:t>Evaluation Criteria: In-sample RMSE and Out-of-sample RMSE</a:t>
            </a:r>
            <a:endParaRPr>
              <a:solidFill>
                <a:schemeClr val="dk1"/>
              </a:solidFill>
            </a:endParaRPr>
          </a:p>
          <a:p>
            <a:pPr indent="-336232" lvl="1" marL="914400" rtl="0" algn="l">
              <a:lnSpc>
                <a:spcPct val="115000"/>
              </a:lnSpc>
              <a:spcBef>
                <a:spcPts val="0"/>
              </a:spcBef>
              <a:spcAft>
                <a:spcPts val="0"/>
              </a:spcAft>
              <a:buClr>
                <a:schemeClr val="dk1"/>
              </a:buClr>
              <a:buSzPts val="1695"/>
              <a:buChar char="○"/>
            </a:pPr>
            <a:r>
              <a:rPr lang="en" sz="1800">
                <a:solidFill>
                  <a:schemeClr val="dk1"/>
                </a:solidFill>
              </a:rPr>
              <a:t>Training Data (01/01/2000 - 06/01/2023)</a:t>
            </a:r>
            <a:endParaRPr sz="1800">
              <a:solidFill>
                <a:schemeClr val="dk1"/>
              </a:solidFill>
            </a:endParaRPr>
          </a:p>
          <a:p>
            <a:pPr indent="-336232" lvl="1" marL="914400" rtl="0" algn="l">
              <a:lnSpc>
                <a:spcPct val="115000"/>
              </a:lnSpc>
              <a:spcBef>
                <a:spcPts val="0"/>
              </a:spcBef>
              <a:spcAft>
                <a:spcPts val="0"/>
              </a:spcAft>
              <a:buClr>
                <a:schemeClr val="dk1"/>
              </a:buClr>
              <a:buSzPts val="1695"/>
              <a:buChar char="○"/>
            </a:pPr>
            <a:r>
              <a:rPr lang="en" sz="1800">
                <a:solidFill>
                  <a:schemeClr val="dk1"/>
                </a:solidFill>
              </a:rPr>
              <a:t>Testing Data (</a:t>
            </a:r>
            <a:r>
              <a:rPr lang="en" sz="1800">
                <a:solidFill>
                  <a:schemeClr val="dk1"/>
                </a:solidFill>
              </a:rPr>
              <a:t>07/01/2023 - 01/01/2024)</a:t>
            </a:r>
            <a:endParaRPr sz="18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1"/>
          <p:cNvSpPr txBox="1"/>
          <p:nvPr>
            <p:ph type="title"/>
          </p:nvPr>
        </p:nvSpPr>
        <p:spPr>
          <a:xfrm>
            <a:off x="311700" y="134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Eg. Lag Selection on VARX(2) with binary variables</a:t>
            </a:r>
            <a:endParaRPr/>
          </a:p>
        </p:txBody>
      </p:sp>
      <p:pic>
        <p:nvPicPr>
          <p:cNvPr id="226" name="Google Shape;226;p31"/>
          <p:cNvPicPr preferRelativeResize="0"/>
          <p:nvPr/>
        </p:nvPicPr>
        <p:blipFill>
          <a:blip r:embed="rId3">
            <a:alphaModFix/>
          </a:blip>
          <a:stretch>
            <a:fillRect/>
          </a:stretch>
        </p:blipFill>
        <p:spPr>
          <a:xfrm>
            <a:off x="720063" y="1977562"/>
            <a:ext cx="4851025" cy="2616275"/>
          </a:xfrm>
          <a:prstGeom prst="rect">
            <a:avLst/>
          </a:prstGeom>
          <a:noFill/>
          <a:ln>
            <a:noFill/>
          </a:ln>
        </p:spPr>
      </p:pic>
      <p:sp>
        <p:nvSpPr>
          <p:cNvPr id="227" name="Google Shape;227;p31"/>
          <p:cNvSpPr txBox="1"/>
          <p:nvPr>
            <p:ph idx="1" type="body"/>
          </p:nvPr>
        </p:nvSpPr>
        <p:spPr>
          <a:xfrm>
            <a:off x="898800" y="1037050"/>
            <a:ext cx="4851000" cy="9405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Char char="●"/>
            </a:pPr>
            <a:r>
              <a:rPr lang="en">
                <a:solidFill>
                  <a:schemeClr val="dk1"/>
                </a:solidFill>
              </a:rPr>
              <a:t>Likelihood Ratio Test, AIC, BIC</a:t>
            </a:r>
            <a:endParaRPr>
              <a:solidFill>
                <a:schemeClr val="dk1"/>
              </a:solidFill>
            </a:endParaRPr>
          </a:p>
          <a:p>
            <a:pPr indent="-317500" lvl="1" marL="914400" rtl="0" algn="l">
              <a:lnSpc>
                <a:spcPct val="150000"/>
              </a:lnSpc>
              <a:spcBef>
                <a:spcPts val="0"/>
              </a:spcBef>
              <a:spcAft>
                <a:spcPts val="0"/>
              </a:spcAft>
              <a:buClr>
                <a:schemeClr val="dk1"/>
              </a:buClr>
              <a:buSzPts val="1400"/>
              <a:buChar char="○"/>
            </a:pPr>
            <a:r>
              <a:rPr lang="en">
                <a:solidFill>
                  <a:schemeClr val="dk1"/>
                </a:solidFill>
              </a:rPr>
              <a:t>Lag 11, Lag 2, or Lag 1</a:t>
            </a:r>
            <a:endParaRPr>
              <a:solidFill>
                <a:schemeClr val="dk1"/>
              </a:solidFill>
            </a:endParaRPr>
          </a:p>
        </p:txBody>
      </p:sp>
      <p:pic>
        <p:nvPicPr>
          <p:cNvPr id="228" name="Google Shape;228;p31"/>
          <p:cNvPicPr preferRelativeResize="0"/>
          <p:nvPr/>
        </p:nvPicPr>
        <p:blipFill>
          <a:blip r:embed="rId4">
            <a:alphaModFix/>
          </a:blip>
          <a:stretch>
            <a:fillRect/>
          </a:stretch>
        </p:blipFill>
        <p:spPr>
          <a:xfrm>
            <a:off x="6026325" y="1005112"/>
            <a:ext cx="2309550" cy="3588700"/>
          </a:xfrm>
          <a:prstGeom prst="rect">
            <a:avLst/>
          </a:prstGeom>
          <a:noFill/>
          <a:ln>
            <a:noFill/>
          </a:ln>
        </p:spPr>
      </p:pic>
      <p:sp>
        <p:nvSpPr>
          <p:cNvPr id="229" name="Google Shape;229;p31"/>
          <p:cNvSpPr txBox="1"/>
          <p:nvPr/>
        </p:nvSpPr>
        <p:spPr>
          <a:xfrm>
            <a:off x="6085650" y="1882563"/>
            <a:ext cx="2190900" cy="216300"/>
          </a:xfrm>
          <a:prstGeom prst="rect">
            <a:avLst/>
          </a:prstGeom>
          <a:no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230" name="Google Shape;230;p31"/>
          <p:cNvSpPr txBox="1"/>
          <p:nvPr/>
        </p:nvSpPr>
        <p:spPr>
          <a:xfrm>
            <a:off x="6048600" y="4133313"/>
            <a:ext cx="2265000" cy="216300"/>
          </a:xfrm>
          <a:prstGeom prst="rect">
            <a:avLst/>
          </a:prstGeom>
          <a:no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
        <p:nvSpPr>
          <p:cNvPr id="231" name="Google Shape;231;p31"/>
          <p:cNvSpPr txBox="1"/>
          <p:nvPr/>
        </p:nvSpPr>
        <p:spPr>
          <a:xfrm>
            <a:off x="720063" y="2165500"/>
            <a:ext cx="4772100" cy="268200"/>
          </a:xfrm>
          <a:prstGeom prst="rect">
            <a:avLst/>
          </a:prstGeom>
          <a:noFill/>
          <a:ln cap="flat" cmpd="sng" w="28575">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graphicFrame>
        <p:nvGraphicFramePr>
          <p:cNvPr id="236" name="Google Shape;236;p32"/>
          <p:cNvGraphicFramePr/>
          <p:nvPr/>
        </p:nvGraphicFramePr>
        <p:xfrm>
          <a:off x="64975" y="77550"/>
          <a:ext cx="3000000" cy="3000000"/>
        </p:xfrm>
        <a:graphic>
          <a:graphicData uri="http://schemas.openxmlformats.org/drawingml/2006/table">
            <a:tbl>
              <a:tblPr>
                <a:noFill/>
                <a:tableStyleId>{59F79B23-F705-4436-ACE7-018CA092DD60}</a:tableStyleId>
              </a:tblPr>
              <a:tblGrid>
                <a:gridCol w="3301525"/>
                <a:gridCol w="2862125"/>
                <a:gridCol w="2850400"/>
              </a:tblGrid>
              <a:tr h="303800">
                <a:tc>
                  <a:txBody>
                    <a:bodyPr/>
                    <a:lstStyle/>
                    <a:p>
                      <a:pPr indent="0" lvl="0" marL="0" rtl="0" algn="ctr">
                        <a:spcBef>
                          <a:spcPts val="0"/>
                        </a:spcBef>
                        <a:spcAft>
                          <a:spcPts val="0"/>
                        </a:spcAft>
                        <a:buNone/>
                      </a:pPr>
                      <a:r>
                        <a:rPr lang="en" sz="1700" u="sng">
                          <a:solidFill>
                            <a:schemeClr val="dk1"/>
                          </a:solidFill>
                        </a:rPr>
                        <a:t>Model</a:t>
                      </a:r>
                      <a:endParaRPr sz="1700" u="sng">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u="sng">
                          <a:solidFill>
                            <a:schemeClr val="dk1"/>
                          </a:solidFill>
                        </a:rPr>
                        <a:t>In-sample RMSE</a:t>
                      </a:r>
                      <a:endParaRPr sz="1700" u="sng">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700" u="sng">
                          <a:solidFill>
                            <a:schemeClr val="dk1"/>
                          </a:solidFill>
                        </a:rPr>
                        <a:t>Out-of-Sample RMSE</a:t>
                      </a:r>
                      <a:endParaRPr sz="1700" u="sng">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22425">
                <a:tc>
                  <a:txBody>
                    <a:bodyPr/>
                    <a:lstStyle/>
                    <a:p>
                      <a:pPr indent="0" lvl="0" marL="0" rtl="0" algn="ctr">
                        <a:spcBef>
                          <a:spcPts val="0"/>
                        </a:spcBef>
                        <a:spcAft>
                          <a:spcPts val="0"/>
                        </a:spcAft>
                        <a:buNone/>
                      </a:pPr>
                      <a:r>
                        <a:rPr lang="en">
                          <a:solidFill>
                            <a:schemeClr val="dk1"/>
                          </a:solidFill>
                        </a:rPr>
                        <a:t>VARX(2) without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0.3234</a:t>
                      </a:r>
                      <a:endParaRPr>
                        <a:solidFill>
                          <a:schemeClr val="dk1"/>
                        </a:solidFill>
                      </a:endParaRPr>
                    </a:p>
                    <a:p>
                      <a:pPr indent="0" lvl="0" marL="0" rtl="0" algn="ctr">
                        <a:spcBef>
                          <a:spcPts val="0"/>
                        </a:spcBef>
                        <a:spcAft>
                          <a:spcPts val="0"/>
                        </a:spcAft>
                        <a:buNone/>
                      </a:pPr>
                      <a:r>
                        <a:rPr lang="en">
                          <a:solidFill>
                            <a:schemeClr val="dk1"/>
                          </a:solidFill>
                        </a:rPr>
                        <a:t>RMSE (VIX) = 4.5318</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0.2866</a:t>
                      </a:r>
                      <a:endParaRPr>
                        <a:solidFill>
                          <a:schemeClr val="dk1"/>
                        </a:solidFill>
                      </a:endParaRPr>
                    </a:p>
                    <a:p>
                      <a:pPr indent="0" lvl="0" marL="0" rtl="0" algn="ctr">
                        <a:spcBef>
                          <a:spcPts val="0"/>
                        </a:spcBef>
                        <a:spcAft>
                          <a:spcPts val="0"/>
                        </a:spcAft>
                        <a:buNone/>
                      </a:pPr>
                      <a:r>
                        <a:rPr lang="en">
                          <a:solidFill>
                            <a:schemeClr val="dk1"/>
                          </a:solidFill>
                        </a:rPr>
                        <a:t>RMSE (VIX) = 3.6432</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40475">
                <a:tc>
                  <a:txBody>
                    <a:bodyPr/>
                    <a:lstStyle/>
                    <a:p>
                      <a:pPr indent="0" lvl="0" marL="0" rtl="0" algn="ctr">
                        <a:spcBef>
                          <a:spcPts val="0"/>
                        </a:spcBef>
                        <a:spcAft>
                          <a:spcPts val="0"/>
                        </a:spcAft>
                        <a:buNone/>
                      </a:pPr>
                      <a:r>
                        <a:rPr b="1" i="1" lang="en">
                          <a:solidFill>
                            <a:srgbClr val="CC4125"/>
                          </a:solidFill>
                        </a:rPr>
                        <a:t>* </a:t>
                      </a:r>
                      <a:r>
                        <a:rPr b="1" i="1" lang="en">
                          <a:solidFill>
                            <a:schemeClr val="dk1"/>
                          </a:solidFill>
                        </a:rPr>
                        <a:t> </a:t>
                      </a:r>
                      <a:r>
                        <a:rPr i="1" lang="en">
                          <a:solidFill>
                            <a:schemeClr val="dk1"/>
                          </a:solidFill>
                        </a:rPr>
                        <a:t>VARX(2) with binary variable controlling </a:t>
                      </a:r>
                      <a:r>
                        <a:rPr i="1" lang="en">
                          <a:solidFill>
                            <a:schemeClr val="dk1"/>
                          </a:solidFill>
                        </a:rPr>
                        <a:t>structural</a:t>
                      </a:r>
                      <a:r>
                        <a:rPr i="1" lang="en">
                          <a:solidFill>
                            <a:schemeClr val="dk1"/>
                          </a:solidFill>
                        </a:rPr>
                        <a:t> break</a:t>
                      </a:r>
                      <a:endParaRPr i="1">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rgbClr val="CC4125"/>
                          </a:solidFill>
                        </a:rPr>
                        <a:t>* </a:t>
                      </a:r>
                      <a:r>
                        <a:rPr i="1" lang="en">
                          <a:solidFill>
                            <a:schemeClr val="dk1"/>
                          </a:solidFill>
                        </a:rPr>
                        <a:t>RMSE (inflation) = 0.3216</a:t>
                      </a:r>
                      <a:endParaRPr i="1">
                        <a:solidFill>
                          <a:schemeClr val="dk1"/>
                        </a:solidFill>
                      </a:endParaRPr>
                    </a:p>
                    <a:p>
                      <a:pPr indent="0" lvl="0" marL="0" rtl="0" algn="ctr">
                        <a:spcBef>
                          <a:spcPts val="0"/>
                        </a:spcBef>
                        <a:spcAft>
                          <a:spcPts val="0"/>
                        </a:spcAft>
                        <a:buNone/>
                      </a:pPr>
                      <a:r>
                        <a:rPr i="1" lang="en">
                          <a:solidFill>
                            <a:schemeClr val="dk1"/>
                          </a:solidFill>
                        </a:rPr>
                        <a:t>RMSE (VIX) = 4.3640</a:t>
                      </a:r>
                      <a:endParaRPr i="1">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rgbClr val="CC4125"/>
                          </a:solidFill>
                        </a:rPr>
                        <a:t>* </a:t>
                      </a:r>
                      <a:r>
                        <a:rPr i="1" lang="en">
                          <a:solidFill>
                            <a:schemeClr val="dk1"/>
                          </a:solidFill>
                        </a:rPr>
                        <a:t>RMSE (inflation) = 0.2905</a:t>
                      </a:r>
                      <a:endParaRPr i="1">
                        <a:solidFill>
                          <a:schemeClr val="dk1"/>
                        </a:solidFill>
                      </a:endParaRPr>
                    </a:p>
                    <a:p>
                      <a:pPr indent="0" lvl="0" marL="0" rtl="0" algn="ctr">
                        <a:spcBef>
                          <a:spcPts val="0"/>
                        </a:spcBef>
                        <a:spcAft>
                          <a:spcPts val="0"/>
                        </a:spcAft>
                        <a:buNone/>
                      </a:pPr>
                      <a:r>
                        <a:rPr i="1" lang="en">
                          <a:solidFill>
                            <a:schemeClr val="dk1"/>
                          </a:solidFill>
                        </a:rPr>
                        <a:t>RMSE (VIX) = 2.9303</a:t>
                      </a:r>
                      <a:endParaRPr i="1">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21375">
                <a:tc>
                  <a:txBody>
                    <a:bodyPr/>
                    <a:lstStyle/>
                    <a:p>
                      <a:pPr indent="0" lvl="0" marL="0" rtl="0" algn="ctr">
                        <a:spcBef>
                          <a:spcPts val="0"/>
                        </a:spcBef>
                        <a:spcAft>
                          <a:spcPts val="0"/>
                        </a:spcAft>
                        <a:buNone/>
                      </a:pPr>
                      <a:r>
                        <a:rPr lang="en">
                          <a:solidFill>
                            <a:schemeClr val="dk1"/>
                          </a:solidFill>
                        </a:rPr>
                        <a:t>VARX(2) without controlling structural break and exogenous variable</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0.3186</a:t>
                      </a:r>
                      <a:endParaRPr>
                        <a:solidFill>
                          <a:schemeClr val="dk1"/>
                        </a:solidFill>
                      </a:endParaRPr>
                    </a:p>
                    <a:p>
                      <a:pPr indent="0" lvl="0" marL="0" rtl="0" algn="ctr">
                        <a:spcBef>
                          <a:spcPts val="0"/>
                        </a:spcBef>
                        <a:spcAft>
                          <a:spcPts val="0"/>
                        </a:spcAft>
                        <a:buNone/>
                      </a:pPr>
                      <a:r>
                        <a:rPr lang="en">
                          <a:solidFill>
                            <a:schemeClr val="dk1"/>
                          </a:solidFill>
                        </a:rPr>
                        <a:t>RMSE (VIX) = 4.6374</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0.2628</a:t>
                      </a:r>
                      <a:endParaRPr>
                        <a:solidFill>
                          <a:schemeClr val="dk1"/>
                        </a:solidFill>
                      </a:endParaRPr>
                    </a:p>
                    <a:p>
                      <a:pPr indent="0" lvl="0" marL="0" rtl="0" algn="ctr">
                        <a:spcBef>
                          <a:spcPts val="0"/>
                        </a:spcBef>
                        <a:spcAft>
                          <a:spcPts val="0"/>
                        </a:spcAft>
                        <a:buNone/>
                      </a:pPr>
                      <a:r>
                        <a:rPr lang="en">
                          <a:solidFill>
                            <a:schemeClr val="dk1"/>
                          </a:solidFill>
                        </a:rPr>
                        <a:t>RMSE (VIX) = 5.4253</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35400">
                <a:tc>
                  <a:txBody>
                    <a:bodyPr/>
                    <a:lstStyle/>
                    <a:p>
                      <a:pPr indent="0" lvl="0" marL="0" rtl="0" algn="ctr">
                        <a:spcBef>
                          <a:spcPts val="0"/>
                        </a:spcBef>
                        <a:spcAft>
                          <a:spcPts val="0"/>
                        </a:spcAft>
                        <a:buNone/>
                      </a:pPr>
                      <a:r>
                        <a:rPr lang="en">
                          <a:solidFill>
                            <a:schemeClr val="dk1"/>
                          </a:solidFill>
                        </a:rPr>
                        <a:t>VARMAX(1,1) </a:t>
                      </a:r>
                      <a:r>
                        <a:rPr lang="en">
                          <a:solidFill>
                            <a:schemeClr val="dk1"/>
                          </a:solidFill>
                        </a:rPr>
                        <a:t>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0.3268</a:t>
                      </a:r>
                      <a:endParaRPr>
                        <a:solidFill>
                          <a:schemeClr val="dk1"/>
                        </a:solidFill>
                      </a:endParaRPr>
                    </a:p>
                    <a:p>
                      <a:pPr indent="0" lvl="0" marL="0" rtl="0" algn="ctr">
                        <a:spcBef>
                          <a:spcPts val="0"/>
                        </a:spcBef>
                        <a:spcAft>
                          <a:spcPts val="0"/>
                        </a:spcAft>
                        <a:buNone/>
                      </a:pPr>
                      <a:r>
                        <a:rPr lang="en">
                          <a:solidFill>
                            <a:schemeClr val="dk1"/>
                          </a:solidFill>
                        </a:rPr>
                        <a:t>RMSE (VIX) = 4.5651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0.3711</a:t>
                      </a:r>
                      <a:endParaRPr>
                        <a:solidFill>
                          <a:schemeClr val="dk1"/>
                        </a:solidFill>
                      </a:endParaRPr>
                    </a:p>
                    <a:p>
                      <a:pPr indent="0" lvl="0" marL="0" rtl="0" algn="ctr">
                        <a:spcBef>
                          <a:spcPts val="0"/>
                        </a:spcBef>
                        <a:spcAft>
                          <a:spcPts val="0"/>
                        </a:spcAft>
                        <a:buNone/>
                      </a:pPr>
                      <a:r>
                        <a:rPr lang="en">
                          <a:solidFill>
                            <a:schemeClr val="dk1"/>
                          </a:solidFill>
                        </a:rPr>
                        <a:t>RMSE (VIX) = 2.6311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35400">
                <a:tc>
                  <a:txBody>
                    <a:bodyPr/>
                    <a:lstStyle/>
                    <a:p>
                      <a:pPr indent="0" lvl="0" marL="0" rtl="0" algn="ctr">
                        <a:spcBef>
                          <a:spcPts val="0"/>
                        </a:spcBef>
                        <a:spcAft>
                          <a:spcPts val="0"/>
                        </a:spcAft>
                        <a:buNone/>
                      </a:pPr>
                      <a:r>
                        <a:rPr lang="en">
                          <a:solidFill>
                            <a:schemeClr val="dk1"/>
                          </a:solidFill>
                        </a:rPr>
                        <a:t>VARMAX(1,2) 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0.3244</a:t>
                      </a:r>
                      <a:endParaRPr>
                        <a:solidFill>
                          <a:schemeClr val="dk1"/>
                        </a:solidFill>
                      </a:endParaRPr>
                    </a:p>
                    <a:p>
                      <a:pPr indent="0" lvl="0" marL="0" rtl="0" algn="ctr">
                        <a:spcBef>
                          <a:spcPts val="0"/>
                        </a:spcBef>
                        <a:spcAft>
                          <a:spcPts val="0"/>
                        </a:spcAft>
                        <a:buNone/>
                      </a:pPr>
                      <a:r>
                        <a:rPr lang="en">
                          <a:solidFill>
                            <a:schemeClr val="dk1"/>
                          </a:solidFill>
                        </a:rPr>
                        <a:t>RMSE (VIX) = 4.5622</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0.3691</a:t>
                      </a:r>
                      <a:endParaRPr>
                        <a:solidFill>
                          <a:schemeClr val="dk1"/>
                        </a:solidFill>
                      </a:endParaRPr>
                    </a:p>
                    <a:p>
                      <a:pPr indent="0" lvl="0" marL="0" rtl="0" algn="ctr">
                        <a:spcBef>
                          <a:spcPts val="0"/>
                        </a:spcBef>
                        <a:spcAft>
                          <a:spcPts val="0"/>
                        </a:spcAft>
                        <a:buNone/>
                      </a:pPr>
                      <a:r>
                        <a:rPr lang="en">
                          <a:solidFill>
                            <a:schemeClr val="dk1"/>
                          </a:solidFill>
                        </a:rPr>
                        <a:t>RMSE (VIX) = 2.5593</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35400">
                <a:tc>
                  <a:txBody>
                    <a:bodyPr/>
                    <a:lstStyle/>
                    <a:p>
                      <a:pPr indent="0" lvl="0" marL="0" rtl="0" algn="ctr">
                        <a:spcBef>
                          <a:spcPts val="0"/>
                        </a:spcBef>
                        <a:spcAft>
                          <a:spcPts val="0"/>
                        </a:spcAft>
                        <a:buNone/>
                      </a:pPr>
                      <a:r>
                        <a:rPr lang="en">
                          <a:solidFill>
                            <a:schemeClr val="dk1"/>
                          </a:solidFill>
                        </a:rPr>
                        <a:t>VMAX(2) with</a:t>
                      </a:r>
                      <a:r>
                        <a:rPr lang="en">
                          <a:solidFill>
                            <a:schemeClr val="dk1"/>
                          </a:solidFill>
                        </a:rPr>
                        <a:t>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0.3391</a:t>
                      </a:r>
                      <a:endParaRPr>
                        <a:solidFill>
                          <a:schemeClr val="dk1"/>
                        </a:solidFill>
                      </a:endParaRPr>
                    </a:p>
                    <a:p>
                      <a:pPr indent="0" lvl="0" marL="0" rtl="0" algn="ctr">
                        <a:spcBef>
                          <a:spcPts val="0"/>
                        </a:spcBef>
                        <a:spcAft>
                          <a:spcPts val="0"/>
                        </a:spcAft>
                        <a:buNone/>
                      </a:pPr>
                      <a:r>
                        <a:rPr lang="en">
                          <a:solidFill>
                            <a:schemeClr val="dk1"/>
                          </a:solidFill>
                        </a:rPr>
                        <a:t>RMSE (VIX) = 4.9554</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0.3724</a:t>
                      </a:r>
                      <a:endParaRPr>
                        <a:solidFill>
                          <a:schemeClr val="dk1"/>
                        </a:solidFill>
                      </a:endParaRPr>
                    </a:p>
                    <a:p>
                      <a:pPr indent="0" lvl="0" marL="0" rtl="0" algn="ctr">
                        <a:spcBef>
                          <a:spcPts val="0"/>
                        </a:spcBef>
                        <a:spcAft>
                          <a:spcPts val="0"/>
                        </a:spcAft>
                        <a:buNone/>
                      </a:pPr>
                      <a:r>
                        <a:rPr lang="en">
                          <a:solidFill>
                            <a:schemeClr val="dk1"/>
                          </a:solidFill>
                        </a:rPr>
                        <a:t>RMSE (VIX) = 2.3937</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35400">
                <a:tc>
                  <a:txBody>
                    <a:bodyPr/>
                    <a:lstStyle/>
                    <a:p>
                      <a:pPr indent="0" lvl="0" marL="0" rtl="0" algn="ctr">
                        <a:spcBef>
                          <a:spcPts val="0"/>
                        </a:spcBef>
                        <a:spcAft>
                          <a:spcPts val="0"/>
                        </a:spcAft>
                        <a:buNone/>
                      </a:pPr>
                      <a:r>
                        <a:rPr lang="en">
                          <a:solidFill>
                            <a:schemeClr val="dk1"/>
                          </a:solidFill>
                        </a:rPr>
                        <a:t>VMAX(1) 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0.3423</a:t>
                      </a:r>
                      <a:endParaRPr>
                        <a:solidFill>
                          <a:schemeClr val="dk1"/>
                        </a:solidFill>
                      </a:endParaRPr>
                    </a:p>
                    <a:p>
                      <a:pPr indent="0" lvl="0" marL="0" rtl="0" algn="ctr">
                        <a:spcBef>
                          <a:spcPts val="0"/>
                        </a:spcBef>
                        <a:spcAft>
                          <a:spcPts val="0"/>
                        </a:spcAft>
                        <a:buNone/>
                      </a:pPr>
                      <a:r>
                        <a:rPr lang="en">
                          <a:solidFill>
                            <a:schemeClr val="dk1"/>
                          </a:solidFill>
                        </a:rPr>
                        <a:t>RMSE (VIX) = 5.3491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RMSE (inflation) = 0.3407</a:t>
                      </a:r>
                      <a:endParaRPr>
                        <a:solidFill>
                          <a:schemeClr val="dk1"/>
                        </a:solidFill>
                      </a:endParaRPr>
                    </a:p>
                    <a:p>
                      <a:pPr indent="0" lvl="0" marL="0" rtl="0" algn="ctr">
                        <a:spcBef>
                          <a:spcPts val="0"/>
                        </a:spcBef>
                        <a:spcAft>
                          <a:spcPts val="0"/>
                        </a:spcAft>
                        <a:buNone/>
                      </a:pPr>
                      <a:r>
                        <a:rPr lang="en">
                          <a:solidFill>
                            <a:schemeClr val="dk1"/>
                          </a:solidFill>
                        </a:rPr>
                        <a:t>RMSE (VIX) = 2.5391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graphicFrame>
        <p:nvGraphicFramePr>
          <p:cNvPr id="241" name="Google Shape;241;p33"/>
          <p:cNvGraphicFramePr/>
          <p:nvPr/>
        </p:nvGraphicFramePr>
        <p:xfrm>
          <a:off x="88825" y="73388"/>
          <a:ext cx="3000000" cy="3000000"/>
        </p:xfrm>
        <a:graphic>
          <a:graphicData uri="http://schemas.openxmlformats.org/drawingml/2006/table">
            <a:tbl>
              <a:tblPr>
                <a:noFill/>
                <a:tableStyleId>{59F79B23-F705-4436-ACE7-018CA092DD60}</a:tableStyleId>
              </a:tblPr>
              <a:tblGrid>
                <a:gridCol w="3205450"/>
                <a:gridCol w="2761900"/>
                <a:gridCol w="2998975"/>
              </a:tblGrid>
              <a:tr h="484325">
                <a:tc>
                  <a:txBody>
                    <a:bodyPr/>
                    <a:lstStyle/>
                    <a:p>
                      <a:pPr indent="0" lvl="0" marL="0" rtl="0" algn="ctr">
                        <a:spcBef>
                          <a:spcPts val="0"/>
                        </a:spcBef>
                        <a:spcAft>
                          <a:spcPts val="0"/>
                        </a:spcAft>
                        <a:buNone/>
                      </a:pPr>
                      <a:r>
                        <a:rPr lang="en" sz="1600" u="sng">
                          <a:solidFill>
                            <a:schemeClr val="dk1"/>
                          </a:solidFill>
                        </a:rPr>
                        <a:t>Model</a:t>
                      </a:r>
                      <a:endParaRPr sz="1600" u="sng">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600" u="sng">
                          <a:solidFill>
                            <a:schemeClr val="dk1"/>
                          </a:solidFill>
                        </a:rPr>
                        <a:t>Average In-sample RMSE</a:t>
                      </a:r>
                      <a:endParaRPr sz="1600" u="sng">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sz="1600" u="sng">
                          <a:solidFill>
                            <a:schemeClr val="dk1"/>
                          </a:solidFill>
                        </a:rPr>
                        <a:t>Average </a:t>
                      </a:r>
                      <a:r>
                        <a:rPr lang="en" sz="1600" u="sng">
                          <a:solidFill>
                            <a:schemeClr val="dk1"/>
                          </a:solidFill>
                        </a:rPr>
                        <a:t>Out-of-Sample RMSE</a:t>
                      </a:r>
                      <a:endParaRPr sz="1600" u="sng">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7875">
                <a:tc>
                  <a:txBody>
                    <a:bodyPr/>
                    <a:lstStyle/>
                    <a:p>
                      <a:pPr indent="0" lvl="0" marL="0" rtl="0" algn="ctr">
                        <a:spcBef>
                          <a:spcPts val="0"/>
                        </a:spcBef>
                        <a:spcAft>
                          <a:spcPts val="0"/>
                        </a:spcAft>
                        <a:buNone/>
                      </a:pPr>
                      <a:r>
                        <a:rPr lang="en">
                          <a:solidFill>
                            <a:schemeClr val="dk1"/>
                          </a:solidFill>
                        </a:rPr>
                        <a:t>VARX(2) without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2.4276</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1.9649</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7875">
                <a:tc>
                  <a:txBody>
                    <a:bodyPr/>
                    <a:lstStyle/>
                    <a:p>
                      <a:pPr indent="0" lvl="0" marL="0" rtl="0" algn="ctr">
                        <a:spcBef>
                          <a:spcPts val="0"/>
                        </a:spcBef>
                        <a:spcAft>
                          <a:spcPts val="0"/>
                        </a:spcAft>
                        <a:buNone/>
                      </a:pPr>
                      <a:r>
                        <a:rPr b="1" i="1" lang="en">
                          <a:solidFill>
                            <a:srgbClr val="CC4125"/>
                          </a:solidFill>
                        </a:rPr>
                        <a:t>* </a:t>
                      </a:r>
                      <a:r>
                        <a:rPr b="1" i="1" lang="en">
                          <a:solidFill>
                            <a:schemeClr val="dk1"/>
                          </a:solidFill>
                        </a:rPr>
                        <a:t> </a:t>
                      </a:r>
                      <a:r>
                        <a:rPr i="1" lang="en">
                          <a:solidFill>
                            <a:schemeClr val="dk1"/>
                          </a:solidFill>
                        </a:rPr>
                        <a:t>VARX(2) with binary variable controlling structural break</a:t>
                      </a:r>
                      <a:endParaRPr i="1">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rgbClr val="CC4125"/>
                          </a:solidFill>
                        </a:rPr>
                        <a:t>* </a:t>
                      </a:r>
                      <a:r>
                        <a:rPr i="1" lang="en">
                          <a:solidFill>
                            <a:schemeClr val="dk1"/>
                          </a:solidFill>
                        </a:rPr>
                        <a:t>2.3428</a:t>
                      </a:r>
                      <a:endParaRPr i="1">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rgbClr val="CC4125"/>
                          </a:solidFill>
                        </a:rPr>
                        <a:t>* </a:t>
                      </a:r>
                      <a:r>
                        <a:rPr i="1" lang="en">
                          <a:solidFill>
                            <a:schemeClr val="dk1"/>
                          </a:solidFill>
                        </a:rPr>
                        <a:t>1.6104</a:t>
                      </a:r>
                      <a:endParaRPr i="1">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717250">
                <a:tc>
                  <a:txBody>
                    <a:bodyPr/>
                    <a:lstStyle/>
                    <a:p>
                      <a:pPr indent="0" lvl="0" marL="0" rtl="0" algn="ctr">
                        <a:spcBef>
                          <a:spcPts val="0"/>
                        </a:spcBef>
                        <a:spcAft>
                          <a:spcPts val="0"/>
                        </a:spcAft>
                        <a:buNone/>
                      </a:pPr>
                      <a:r>
                        <a:rPr lang="en">
                          <a:solidFill>
                            <a:schemeClr val="dk1"/>
                          </a:solidFill>
                        </a:rPr>
                        <a:t>VARX(2) without controlling structural break and exogenous variable</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2.4780</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2.8441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7875">
                <a:tc>
                  <a:txBody>
                    <a:bodyPr/>
                    <a:lstStyle/>
                    <a:p>
                      <a:pPr indent="0" lvl="0" marL="0" rtl="0" algn="ctr">
                        <a:spcBef>
                          <a:spcPts val="0"/>
                        </a:spcBef>
                        <a:spcAft>
                          <a:spcPts val="0"/>
                        </a:spcAft>
                        <a:buNone/>
                      </a:pPr>
                      <a:r>
                        <a:rPr lang="en">
                          <a:solidFill>
                            <a:schemeClr val="dk1"/>
                          </a:solidFill>
                        </a:rPr>
                        <a:t>VARMAX(1,1) 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2.4460</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1.5011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7875">
                <a:tc>
                  <a:txBody>
                    <a:bodyPr/>
                    <a:lstStyle/>
                    <a:p>
                      <a:pPr indent="0" lvl="0" marL="0" rtl="0" algn="ctr">
                        <a:spcBef>
                          <a:spcPts val="0"/>
                        </a:spcBef>
                        <a:spcAft>
                          <a:spcPts val="0"/>
                        </a:spcAft>
                        <a:buNone/>
                      </a:pPr>
                      <a:r>
                        <a:rPr lang="en">
                          <a:solidFill>
                            <a:schemeClr val="dk1"/>
                          </a:solidFill>
                        </a:rPr>
                        <a:t>VARMAX(1,2) 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2.4433</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1.4642</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7875">
                <a:tc>
                  <a:txBody>
                    <a:bodyPr/>
                    <a:lstStyle/>
                    <a:p>
                      <a:pPr indent="0" lvl="0" marL="0" rtl="0" algn="ctr">
                        <a:spcBef>
                          <a:spcPts val="0"/>
                        </a:spcBef>
                        <a:spcAft>
                          <a:spcPts val="0"/>
                        </a:spcAft>
                        <a:buNone/>
                      </a:pPr>
                      <a:r>
                        <a:rPr lang="en">
                          <a:solidFill>
                            <a:schemeClr val="dk1"/>
                          </a:solidFill>
                        </a:rPr>
                        <a:t>VMAX(2) 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2.6473</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1.3831</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607875">
                <a:tc>
                  <a:txBody>
                    <a:bodyPr/>
                    <a:lstStyle/>
                    <a:p>
                      <a:pPr indent="0" lvl="0" marL="0" rtl="0" algn="ctr">
                        <a:spcBef>
                          <a:spcPts val="0"/>
                        </a:spcBef>
                        <a:spcAft>
                          <a:spcPts val="0"/>
                        </a:spcAft>
                        <a:buNone/>
                      </a:pPr>
                      <a:r>
                        <a:rPr lang="en">
                          <a:solidFill>
                            <a:schemeClr val="dk1"/>
                          </a:solidFill>
                        </a:rPr>
                        <a:t>VMAX(1) with binary variable controlling structural break</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2.8457</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dk1"/>
                          </a:solidFill>
                        </a:rPr>
                        <a:t>1.4399</a:t>
                      </a:r>
                      <a:endParaRPr>
                        <a:solidFill>
                          <a:schemeClr val="dk1"/>
                        </a:solidFill>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Results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Granger Causality &amp; Stability Test (All Models)</a:t>
            </a:r>
            <a:endParaRPr/>
          </a:p>
        </p:txBody>
      </p:sp>
      <p:sp>
        <p:nvSpPr>
          <p:cNvPr id="252" name="Google Shape;252;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Granger Causality ≠ Causality</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53" name="Google Shape;253;p35"/>
          <p:cNvPicPr preferRelativeResize="0"/>
          <p:nvPr/>
        </p:nvPicPr>
        <p:blipFill>
          <a:blip r:embed="rId3">
            <a:alphaModFix/>
          </a:blip>
          <a:stretch>
            <a:fillRect/>
          </a:stretch>
        </p:blipFill>
        <p:spPr>
          <a:xfrm>
            <a:off x="49325" y="1659375"/>
            <a:ext cx="9094675" cy="1824750"/>
          </a:xfrm>
          <a:prstGeom prst="rect">
            <a:avLst/>
          </a:prstGeom>
          <a:noFill/>
          <a:ln>
            <a:noFill/>
          </a:ln>
        </p:spPr>
      </p:pic>
      <p:pic>
        <p:nvPicPr>
          <p:cNvPr id="254" name="Google Shape;254;p35"/>
          <p:cNvPicPr preferRelativeResize="0"/>
          <p:nvPr/>
        </p:nvPicPr>
        <p:blipFill>
          <a:blip r:embed="rId4">
            <a:alphaModFix/>
          </a:blip>
          <a:stretch>
            <a:fillRect/>
          </a:stretch>
        </p:blipFill>
        <p:spPr>
          <a:xfrm>
            <a:off x="3773888" y="3035800"/>
            <a:ext cx="4219575" cy="17145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Forecasting (VARX no SB) </a:t>
            </a:r>
            <a:endParaRPr/>
          </a:p>
        </p:txBody>
      </p:sp>
      <p:sp>
        <p:nvSpPr>
          <p:cNvPr id="260" name="Google Shape;26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Average RMSE:</a:t>
            </a:r>
            <a:r>
              <a:rPr b="1" lang="en">
                <a:solidFill>
                  <a:schemeClr val="dk1"/>
                </a:solidFill>
              </a:rPr>
              <a:t> </a:t>
            </a:r>
            <a:r>
              <a:rPr lang="en">
                <a:solidFill>
                  <a:schemeClr val="dk1"/>
                </a:solidFill>
              </a:rPr>
              <a:t>1.9649</a:t>
            </a:r>
            <a:endParaRPr>
              <a:solidFill>
                <a:schemeClr val="dk1"/>
              </a:solidFill>
            </a:endParaRPr>
          </a:p>
        </p:txBody>
      </p:sp>
      <p:pic>
        <p:nvPicPr>
          <p:cNvPr id="261" name="Google Shape;261;p36"/>
          <p:cNvPicPr preferRelativeResize="0"/>
          <p:nvPr/>
        </p:nvPicPr>
        <p:blipFill>
          <a:blip r:embed="rId3">
            <a:alphaModFix/>
          </a:blip>
          <a:stretch>
            <a:fillRect/>
          </a:stretch>
        </p:blipFill>
        <p:spPr>
          <a:xfrm>
            <a:off x="311700" y="1680121"/>
            <a:ext cx="3705826" cy="2888750"/>
          </a:xfrm>
          <a:prstGeom prst="rect">
            <a:avLst/>
          </a:prstGeom>
          <a:noFill/>
          <a:ln>
            <a:noFill/>
          </a:ln>
        </p:spPr>
      </p:pic>
      <p:pic>
        <p:nvPicPr>
          <p:cNvPr id="262" name="Google Shape;262;p36"/>
          <p:cNvPicPr preferRelativeResize="0"/>
          <p:nvPr/>
        </p:nvPicPr>
        <p:blipFill>
          <a:blip r:embed="rId4">
            <a:alphaModFix/>
          </a:blip>
          <a:stretch>
            <a:fillRect/>
          </a:stretch>
        </p:blipFill>
        <p:spPr>
          <a:xfrm>
            <a:off x="5126475" y="1638869"/>
            <a:ext cx="3705825" cy="29712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Forecasting (All endogenous, no SB) </a:t>
            </a:r>
            <a:endParaRPr/>
          </a:p>
        </p:txBody>
      </p:sp>
      <p:sp>
        <p:nvSpPr>
          <p:cNvPr id="268" name="Google Shape;26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Average RMSE:</a:t>
            </a:r>
            <a:r>
              <a:rPr b="1" lang="en">
                <a:solidFill>
                  <a:schemeClr val="dk1"/>
                </a:solidFill>
              </a:rPr>
              <a:t> </a:t>
            </a:r>
            <a:r>
              <a:rPr lang="en">
                <a:solidFill>
                  <a:schemeClr val="dk1"/>
                </a:solidFill>
              </a:rPr>
              <a:t>2.844</a:t>
            </a:r>
            <a:endParaRPr>
              <a:solidFill>
                <a:schemeClr val="dk1"/>
              </a:solidFill>
            </a:endParaRPr>
          </a:p>
        </p:txBody>
      </p:sp>
      <p:pic>
        <p:nvPicPr>
          <p:cNvPr id="269" name="Google Shape;269;p37"/>
          <p:cNvPicPr preferRelativeResize="0"/>
          <p:nvPr/>
        </p:nvPicPr>
        <p:blipFill>
          <a:blip r:embed="rId3">
            <a:alphaModFix/>
          </a:blip>
          <a:stretch>
            <a:fillRect/>
          </a:stretch>
        </p:blipFill>
        <p:spPr>
          <a:xfrm>
            <a:off x="311700" y="1680121"/>
            <a:ext cx="3705826" cy="2888750"/>
          </a:xfrm>
          <a:prstGeom prst="rect">
            <a:avLst/>
          </a:prstGeom>
          <a:noFill/>
          <a:ln>
            <a:noFill/>
          </a:ln>
        </p:spPr>
      </p:pic>
      <p:pic>
        <p:nvPicPr>
          <p:cNvPr id="270" name="Google Shape;270;p37"/>
          <p:cNvPicPr preferRelativeResize="0"/>
          <p:nvPr/>
        </p:nvPicPr>
        <p:blipFill>
          <a:blip r:embed="rId4">
            <a:alphaModFix/>
          </a:blip>
          <a:stretch>
            <a:fillRect/>
          </a:stretch>
        </p:blipFill>
        <p:spPr>
          <a:xfrm>
            <a:off x="5126475" y="1638869"/>
            <a:ext cx="3705825" cy="2971278"/>
          </a:xfrm>
          <a:prstGeom prst="rect">
            <a:avLst/>
          </a:prstGeom>
          <a:noFill/>
          <a:ln>
            <a:noFill/>
          </a:ln>
        </p:spPr>
      </p:pic>
      <p:pic>
        <p:nvPicPr>
          <p:cNvPr id="271" name="Google Shape;271;p37"/>
          <p:cNvPicPr preferRelativeResize="0"/>
          <p:nvPr/>
        </p:nvPicPr>
        <p:blipFill>
          <a:blip r:embed="rId5">
            <a:alphaModFix/>
          </a:blip>
          <a:stretch>
            <a:fillRect/>
          </a:stretch>
        </p:blipFill>
        <p:spPr>
          <a:xfrm>
            <a:off x="311701" y="1680150"/>
            <a:ext cx="3705826" cy="2888737"/>
          </a:xfrm>
          <a:prstGeom prst="rect">
            <a:avLst/>
          </a:prstGeom>
          <a:noFill/>
          <a:ln>
            <a:noFill/>
          </a:ln>
        </p:spPr>
      </p:pic>
      <p:pic>
        <p:nvPicPr>
          <p:cNvPr id="272" name="Google Shape;272;p37"/>
          <p:cNvPicPr preferRelativeResize="0"/>
          <p:nvPr/>
        </p:nvPicPr>
        <p:blipFill>
          <a:blip r:embed="rId6">
            <a:alphaModFix/>
          </a:blip>
          <a:stretch>
            <a:fillRect/>
          </a:stretch>
        </p:blipFill>
        <p:spPr>
          <a:xfrm>
            <a:off x="5126475" y="1638856"/>
            <a:ext cx="3705825" cy="297127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Forecasting (VARX w/ SB) </a:t>
            </a:r>
            <a:endParaRPr/>
          </a:p>
        </p:txBody>
      </p:sp>
      <p:sp>
        <p:nvSpPr>
          <p:cNvPr id="278" name="Google Shape;278;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chemeClr val="dk1"/>
                </a:solidFill>
              </a:rPr>
              <a:t>Average RMSE:</a:t>
            </a:r>
            <a:r>
              <a:rPr b="1" lang="en">
                <a:solidFill>
                  <a:schemeClr val="dk1"/>
                </a:solidFill>
              </a:rPr>
              <a:t> </a:t>
            </a:r>
            <a:r>
              <a:rPr lang="en">
                <a:solidFill>
                  <a:schemeClr val="dk1"/>
                </a:solidFill>
              </a:rPr>
              <a:t>1.6104</a:t>
            </a:r>
            <a:endParaRPr>
              <a:solidFill>
                <a:schemeClr val="dk1"/>
              </a:solidFill>
            </a:endParaRPr>
          </a:p>
        </p:txBody>
      </p:sp>
      <p:pic>
        <p:nvPicPr>
          <p:cNvPr id="279" name="Google Shape;279;p38"/>
          <p:cNvPicPr preferRelativeResize="0"/>
          <p:nvPr/>
        </p:nvPicPr>
        <p:blipFill>
          <a:blip r:embed="rId3">
            <a:alphaModFix/>
          </a:blip>
          <a:stretch>
            <a:fillRect/>
          </a:stretch>
        </p:blipFill>
        <p:spPr>
          <a:xfrm>
            <a:off x="311700" y="1680121"/>
            <a:ext cx="3705826" cy="2888750"/>
          </a:xfrm>
          <a:prstGeom prst="rect">
            <a:avLst/>
          </a:prstGeom>
          <a:noFill/>
          <a:ln>
            <a:noFill/>
          </a:ln>
        </p:spPr>
      </p:pic>
      <p:pic>
        <p:nvPicPr>
          <p:cNvPr id="280" name="Google Shape;280;p38"/>
          <p:cNvPicPr preferRelativeResize="0"/>
          <p:nvPr/>
        </p:nvPicPr>
        <p:blipFill>
          <a:blip r:embed="rId4">
            <a:alphaModFix/>
          </a:blip>
          <a:stretch>
            <a:fillRect/>
          </a:stretch>
        </p:blipFill>
        <p:spPr>
          <a:xfrm>
            <a:off x="5126475" y="1638869"/>
            <a:ext cx="3705825" cy="2971278"/>
          </a:xfrm>
          <a:prstGeom prst="rect">
            <a:avLst/>
          </a:prstGeom>
          <a:noFill/>
          <a:ln>
            <a:noFill/>
          </a:ln>
        </p:spPr>
      </p:pic>
      <p:pic>
        <p:nvPicPr>
          <p:cNvPr id="281" name="Google Shape;281;p38"/>
          <p:cNvPicPr preferRelativeResize="0"/>
          <p:nvPr/>
        </p:nvPicPr>
        <p:blipFill>
          <a:blip r:embed="rId5">
            <a:alphaModFix/>
          </a:blip>
          <a:stretch>
            <a:fillRect/>
          </a:stretch>
        </p:blipFill>
        <p:spPr>
          <a:xfrm>
            <a:off x="311700" y="1636470"/>
            <a:ext cx="3705826" cy="2888756"/>
          </a:xfrm>
          <a:prstGeom prst="rect">
            <a:avLst/>
          </a:prstGeom>
          <a:noFill/>
          <a:ln>
            <a:noFill/>
          </a:ln>
        </p:spPr>
      </p:pic>
      <p:pic>
        <p:nvPicPr>
          <p:cNvPr id="282" name="Google Shape;282;p38"/>
          <p:cNvPicPr preferRelativeResize="0"/>
          <p:nvPr/>
        </p:nvPicPr>
        <p:blipFill>
          <a:blip r:embed="rId6">
            <a:alphaModFix/>
          </a:blip>
          <a:stretch>
            <a:fillRect/>
          </a:stretch>
        </p:blipFill>
        <p:spPr>
          <a:xfrm>
            <a:off x="5073282" y="1636475"/>
            <a:ext cx="3759018" cy="3013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9"/>
          <p:cNvSpPr txBox="1"/>
          <p:nvPr>
            <p:ph type="title"/>
          </p:nvPr>
        </p:nvSpPr>
        <p:spPr>
          <a:xfrm>
            <a:off x="311700" y="210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Impulse Response Functions </a:t>
            </a:r>
            <a:r>
              <a:rPr lang="en"/>
              <a:t>(10 periods)</a:t>
            </a:r>
            <a:endParaRPr/>
          </a:p>
        </p:txBody>
      </p:sp>
      <p:sp>
        <p:nvSpPr>
          <p:cNvPr id="288" name="Google Shape;288;p39"/>
          <p:cNvSpPr txBox="1"/>
          <p:nvPr>
            <p:ph idx="1" type="body"/>
          </p:nvPr>
        </p:nvSpPr>
        <p:spPr>
          <a:xfrm>
            <a:off x="311700" y="763700"/>
            <a:ext cx="8520600" cy="380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9" name="Google Shape;289;p39"/>
          <p:cNvPicPr preferRelativeResize="0"/>
          <p:nvPr/>
        </p:nvPicPr>
        <p:blipFill>
          <a:blip r:embed="rId3">
            <a:alphaModFix/>
          </a:blip>
          <a:stretch>
            <a:fillRect/>
          </a:stretch>
        </p:blipFill>
        <p:spPr>
          <a:xfrm>
            <a:off x="311688" y="1152473"/>
            <a:ext cx="3991913" cy="3805300"/>
          </a:xfrm>
          <a:prstGeom prst="rect">
            <a:avLst/>
          </a:prstGeom>
          <a:noFill/>
          <a:ln>
            <a:noFill/>
          </a:ln>
        </p:spPr>
      </p:pic>
      <p:pic>
        <p:nvPicPr>
          <p:cNvPr id="290" name="Google Shape;290;p39"/>
          <p:cNvPicPr preferRelativeResize="0"/>
          <p:nvPr/>
        </p:nvPicPr>
        <p:blipFill>
          <a:blip r:embed="rId4">
            <a:alphaModFix/>
          </a:blip>
          <a:stretch>
            <a:fillRect/>
          </a:stretch>
        </p:blipFill>
        <p:spPr>
          <a:xfrm>
            <a:off x="4840400" y="1152475"/>
            <a:ext cx="3991900" cy="3800231"/>
          </a:xfrm>
          <a:prstGeom prst="rect">
            <a:avLst/>
          </a:prstGeom>
          <a:noFill/>
          <a:ln>
            <a:noFill/>
          </a:ln>
        </p:spPr>
      </p:pic>
      <p:sp>
        <p:nvSpPr>
          <p:cNvPr id="291" name="Google Shape;291;p39"/>
          <p:cNvSpPr txBox="1"/>
          <p:nvPr/>
        </p:nvSpPr>
        <p:spPr>
          <a:xfrm>
            <a:off x="1268450" y="798925"/>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Standard</a:t>
            </a:r>
            <a:endParaRPr sz="1800">
              <a:solidFill>
                <a:schemeClr val="lt2"/>
              </a:solidFill>
            </a:endParaRPr>
          </a:p>
        </p:txBody>
      </p:sp>
      <p:sp>
        <p:nvSpPr>
          <p:cNvPr id="292" name="Google Shape;292;p39"/>
          <p:cNvSpPr txBox="1"/>
          <p:nvPr/>
        </p:nvSpPr>
        <p:spPr>
          <a:xfrm>
            <a:off x="5797150" y="798925"/>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Cumulative</a:t>
            </a:r>
            <a:endParaRPr sz="1800">
              <a:solidFill>
                <a:schemeClr val="lt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311700" y="210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Impulse Response Functions</a:t>
            </a:r>
            <a:r>
              <a:rPr lang="en"/>
              <a:t> (10 periods)</a:t>
            </a:r>
            <a:endParaRPr/>
          </a:p>
        </p:txBody>
      </p:sp>
      <p:sp>
        <p:nvSpPr>
          <p:cNvPr id="298" name="Google Shape;298;p40"/>
          <p:cNvSpPr txBox="1"/>
          <p:nvPr>
            <p:ph idx="1" type="body"/>
          </p:nvPr>
        </p:nvSpPr>
        <p:spPr>
          <a:xfrm>
            <a:off x="311700" y="763700"/>
            <a:ext cx="8520600" cy="380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9" name="Google Shape;299;p40"/>
          <p:cNvPicPr preferRelativeResize="0"/>
          <p:nvPr/>
        </p:nvPicPr>
        <p:blipFill>
          <a:blip r:embed="rId3">
            <a:alphaModFix/>
          </a:blip>
          <a:stretch>
            <a:fillRect/>
          </a:stretch>
        </p:blipFill>
        <p:spPr>
          <a:xfrm>
            <a:off x="311688" y="1152473"/>
            <a:ext cx="3991913" cy="3805300"/>
          </a:xfrm>
          <a:prstGeom prst="rect">
            <a:avLst/>
          </a:prstGeom>
          <a:noFill/>
          <a:ln>
            <a:noFill/>
          </a:ln>
        </p:spPr>
      </p:pic>
      <p:sp>
        <p:nvSpPr>
          <p:cNvPr id="300" name="Google Shape;300;p40"/>
          <p:cNvSpPr txBox="1"/>
          <p:nvPr/>
        </p:nvSpPr>
        <p:spPr>
          <a:xfrm>
            <a:off x="1268450" y="798925"/>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Standard</a:t>
            </a:r>
            <a:endParaRPr sz="1800">
              <a:solidFill>
                <a:schemeClr val="lt2"/>
              </a:solidFill>
            </a:endParaRPr>
          </a:p>
        </p:txBody>
      </p:sp>
      <p:sp>
        <p:nvSpPr>
          <p:cNvPr id="301" name="Google Shape;301;p40"/>
          <p:cNvSpPr txBox="1"/>
          <p:nvPr/>
        </p:nvSpPr>
        <p:spPr>
          <a:xfrm>
            <a:off x="5797150" y="798925"/>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Cumulative</a:t>
            </a:r>
            <a:endParaRPr sz="1800">
              <a:solidFill>
                <a:schemeClr val="lt2"/>
              </a:solidFill>
            </a:endParaRPr>
          </a:p>
        </p:txBody>
      </p:sp>
      <p:pic>
        <p:nvPicPr>
          <p:cNvPr id="302" name="Google Shape;302;p40"/>
          <p:cNvPicPr preferRelativeResize="0"/>
          <p:nvPr/>
        </p:nvPicPr>
        <p:blipFill>
          <a:blip r:embed="rId4">
            <a:alphaModFix/>
          </a:blip>
          <a:stretch>
            <a:fillRect/>
          </a:stretch>
        </p:blipFill>
        <p:spPr>
          <a:xfrm>
            <a:off x="311700" y="1152475"/>
            <a:ext cx="3991900" cy="3805300"/>
          </a:xfrm>
          <a:prstGeom prst="rect">
            <a:avLst/>
          </a:prstGeom>
          <a:noFill/>
          <a:ln>
            <a:noFill/>
          </a:ln>
        </p:spPr>
      </p:pic>
      <p:pic>
        <p:nvPicPr>
          <p:cNvPr id="303" name="Google Shape;303;p40"/>
          <p:cNvPicPr preferRelativeResize="0"/>
          <p:nvPr/>
        </p:nvPicPr>
        <p:blipFill>
          <a:blip r:embed="rId5">
            <a:alphaModFix/>
          </a:blip>
          <a:stretch>
            <a:fillRect/>
          </a:stretch>
        </p:blipFill>
        <p:spPr>
          <a:xfrm>
            <a:off x="4840400" y="1152475"/>
            <a:ext cx="3749666" cy="38053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1"/>
          <p:cNvSpPr txBox="1"/>
          <p:nvPr>
            <p:ph type="title"/>
          </p:nvPr>
        </p:nvSpPr>
        <p:spPr>
          <a:xfrm>
            <a:off x="311700" y="210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Impulse Response Functions</a:t>
            </a:r>
            <a:r>
              <a:rPr lang="en"/>
              <a:t> (10 periods)</a:t>
            </a:r>
            <a:endParaRPr/>
          </a:p>
        </p:txBody>
      </p:sp>
      <p:sp>
        <p:nvSpPr>
          <p:cNvPr id="309" name="Google Shape;309;p41"/>
          <p:cNvSpPr txBox="1"/>
          <p:nvPr>
            <p:ph idx="1" type="body"/>
          </p:nvPr>
        </p:nvSpPr>
        <p:spPr>
          <a:xfrm>
            <a:off x="311700" y="763700"/>
            <a:ext cx="8520600" cy="380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10" name="Google Shape;310;p41"/>
          <p:cNvSpPr txBox="1"/>
          <p:nvPr/>
        </p:nvSpPr>
        <p:spPr>
          <a:xfrm>
            <a:off x="1098525" y="763700"/>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Standard</a:t>
            </a:r>
            <a:endParaRPr sz="1800">
              <a:solidFill>
                <a:schemeClr val="lt2"/>
              </a:solidFill>
            </a:endParaRPr>
          </a:p>
        </p:txBody>
      </p:sp>
      <p:sp>
        <p:nvSpPr>
          <p:cNvPr id="311" name="Google Shape;311;p41"/>
          <p:cNvSpPr txBox="1"/>
          <p:nvPr/>
        </p:nvSpPr>
        <p:spPr>
          <a:xfrm>
            <a:off x="5797163" y="763700"/>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Cumulative</a:t>
            </a:r>
            <a:endParaRPr sz="1800">
              <a:solidFill>
                <a:schemeClr val="lt2"/>
              </a:solidFill>
            </a:endParaRPr>
          </a:p>
        </p:txBody>
      </p:sp>
      <p:pic>
        <p:nvPicPr>
          <p:cNvPr id="312" name="Google Shape;312;p41"/>
          <p:cNvPicPr preferRelativeResize="0"/>
          <p:nvPr/>
        </p:nvPicPr>
        <p:blipFill>
          <a:blip r:embed="rId3">
            <a:alphaModFix/>
          </a:blip>
          <a:stretch>
            <a:fillRect/>
          </a:stretch>
        </p:blipFill>
        <p:spPr>
          <a:xfrm>
            <a:off x="311700" y="1152575"/>
            <a:ext cx="3652042" cy="3805200"/>
          </a:xfrm>
          <a:prstGeom prst="rect">
            <a:avLst/>
          </a:prstGeom>
          <a:noFill/>
          <a:ln>
            <a:noFill/>
          </a:ln>
        </p:spPr>
      </p:pic>
      <p:pic>
        <p:nvPicPr>
          <p:cNvPr id="313" name="Google Shape;313;p41"/>
          <p:cNvPicPr preferRelativeResize="0"/>
          <p:nvPr/>
        </p:nvPicPr>
        <p:blipFill>
          <a:blip r:embed="rId4">
            <a:alphaModFix/>
          </a:blip>
          <a:stretch>
            <a:fillRect/>
          </a:stretch>
        </p:blipFill>
        <p:spPr>
          <a:xfrm>
            <a:off x="4806313" y="1113213"/>
            <a:ext cx="4060080" cy="388392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2"/>
          <p:cNvSpPr txBox="1"/>
          <p:nvPr>
            <p:ph type="title"/>
          </p:nvPr>
        </p:nvSpPr>
        <p:spPr>
          <a:xfrm>
            <a:off x="311700" y="2101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Reduced Form IRFs (10 periods)</a:t>
            </a:r>
            <a:endParaRPr/>
          </a:p>
        </p:txBody>
      </p:sp>
      <p:sp>
        <p:nvSpPr>
          <p:cNvPr id="319" name="Google Shape;319;p42"/>
          <p:cNvSpPr txBox="1"/>
          <p:nvPr>
            <p:ph idx="1" type="body"/>
          </p:nvPr>
        </p:nvSpPr>
        <p:spPr>
          <a:xfrm>
            <a:off x="311700" y="763700"/>
            <a:ext cx="8520600" cy="3805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20" name="Google Shape;320;p42"/>
          <p:cNvSpPr txBox="1"/>
          <p:nvPr/>
        </p:nvSpPr>
        <p:spPr>
          <a:xfrm>
            <a:off x="1268450" y="798925"/>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Standard</a:t>
            </a:r>
            <a:endParaRPr sz="1800">
              <a:solidFill>
                <a:schemeClr val="lt2"/>
              </a:solidFill>
            </a:endParaRPr>
          </a:p>
        </p:txBody>
      </p:sp>
      <p:sp>
        <p:nvSpPr>
          <p:cNvPr id="321" name="Google Shape;321;p42"/>
          <p:cNvSpPr txBox="1"/>
          <p:nvPr/>
        </p:nvSpPr>
        <p:spPr>
          <a:xfrm>
            <a:off x="5797150" y="798925"/>
            <a:ext cx="2078400" cy="33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rPr>
              <a:t>Cumulative</a:t>
            </a:r>
            <a:endParaRPr sz="1800">
              <a:solidFill>
                <a:schemeClr val="lt2"/>
              </a:solidFill>
            </a:endParaRPr>
          </a:p>
        </p:txBody>
      </p:sp>
      <p:pic>
        <p:nvPicPr>
          <p:cNvPr id="322" name="Google Shape;322;p42"/>
          <p:cNvPicPr preferRelativeResize="0"/>
          <p:nvPr/>
        </p:nvPicPr>
        <p:blipFill>
          <a:blip r:embed="rId3">
            <a:alphaModFix/>
          </a:blip>
          <a:stretch>
            <a:fillRect/>
          </a:stretch>
        </p:blipFill>
        <p:spPr>
          <a:xfrm>
            <a:off x="311700" y="1152475"/>
            <a:ext cx="3622575" cy="3717274"/>
          </a:xfrm>
          <a:prstGeom prst="rect">
            <a:avLst/>
          </a:prstGeom>
          <a:noFill/>
          <a:ln>
            <a:noFill/>
          </a:ln>
        </p:spPr>
      </p:pic>
      <p:pic>
        <p:nvPicPr>
          <p:cNvPr id="323" name="Google Shape;323;p42"/>
          <p:cNvPicPr preferRelativeResize="0"/>
          <p:nvPr/>
        </p:nvPicPr>
        <p:blipFill>
          <a:blip r:embed="rId4">
            <a:alphaModFix/>
          </a:blip>
          <a:stretch>
            <a:fillRect/>
          </a:stretch>
        </p:blipFill>
        <p:spPr>
          <a:xfrm>
            <a:off x="4962900" y="1108512"/>
            <a:ext cx="3746892" cy="38052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Side Note on Standard Errors</a:t>
            </a:r>
            <a:r>
              <a:rPr baseline="30000" lang="en"/>
              <a:t>1</a:t>
            </a:r>
            <a:endParaRPr baseline="30000"/>
          </a:p>
        </p:txBody>
      </p:sp>
      <p:sp>
        <p:nvSpPr>
          <p:cNvPr id="329" name="Google Shape;329;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Benkwitz, Lütkepohl and Neumann (2000) found that asymptotic standard errors may be misleading.</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Alternatively, use </a:t>
            </a:r>
            <a:r>
              <a:rPr lang="en">
                <a:solidFill>
                  <a:schemeClr val="dk1"/>
                </a:solidFill>
              </a:rPr>
              <a:t>bootstrap/monte carlo methods.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We use asymptotics because: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Fachin and Bravetti (1996) &amp; Killian and Chang (2000) found mixed results when comparing the two approaches.</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Less resource intensive.</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MC methods still require asymptotic justification.</a:t>
            </a: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In general, asymptotic performs better but modifications to MC improve performance considerably.</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Bayesian methods, primarily Sims and Zha (1999), are also a popular alternative</a:t>
            </a:r>
            <a:endParaRPr>
              <a:solidFill>
                <a:schemeClr val="dk1"/>
              </a:solidFill>
            </a:endParaRPr>
          </a:p>
        </p:txBody>
      </p:sp>
      <p:sp>
        <p:nvSpPr>
          <p:cNvPr id="330" name="Google Shape;330;p43"/>
          <p:cNvSpPr txBox="1"/>
          <p:nvPr/>
        </p:nvSpPr>
        <p:spPr>
          <a:xfrm>
            <a:off x="504025" y="4648300"/>
            <a:ext cx="8091000" cy="32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[1] Econometric Analysis with Vector Autoregressive Models, </a:t>
            </a:r>
            <a:r>
              <a:rPr lang="en" sz="1200">
                <a:solidFill>
                  <a:schemeClr val="dk1"/>
                </a:solidFill>
              </a:rPr>
              <a:t>Lütkepohl (2007)</a:t>
            </a:r>
            <a:endParaRPr sz="12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 &amp; </a:t>
            </a:r>
            <a:r>
              <a:rPr lang="en"/>
              <a:t>Improvements</a:t>
            </a:r>
            <a:r>
              <a:rPr lang="en"/>
              <a:t> </a:t>
            </a:r>
            <a:endParaRPr/>
          </a:p>
        </p:txBody>
      </p:sp>
      <p:sp>
        <p:nvSpPr>
          <p:cNvPr id="336" name="Google Shape;336;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solidFill>
                  <a:schemeClr val="dk1"/>
                </a:solidFill>
              </a:rPr>
              <a:t>Conclusion </a:t>
            </a:r>
            <a:endParaRPr>
              <a:solidFill>
                <a:schemeClr val="dk1"/>
              </a:solidFill>
            </a:endParaRPr>
          </a:p>
          <a:p>
            <a:pPr indent="-334327" lvl="0" marL="457200" rtl="0" algn="l">
              <a:spcBef>
                <a:spcPts val="1200"/>
              </a:spcBef>
              <a:spcAft>
                <a:spcPts val="0"/>
              </a:spcAft>
              <a:buClr>
                <a:schemeClr val="dk1"/>
              </a:buClr>
              <a:buSzPct val="100000"/>
              <a:buChar char="●"/>
            </a:pPr>
            <a:r>
              <a:rPr lang="en">
                <a:solidFill>
                  <a:schemeClr val="dk1"/>
                </a:solidFill>
              </a:rPr>
              <a:t>VIX and inflation show no relationship.</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VAR Models show some predictive power regarding the trend of both series but precision is still lacking.</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Improvements:</a:t>
            </a:r>
            <a:endParaRPr>
              <a:solidFill>
                <a:schemeClr val="dk1"/>
              </a:solidFill>
            </a:endParaRPr>
          </a:p>
          <a:p>
            <a:pPr indent="-334327" lvl="0" marL="457200" rtl="0" algn="l">
              <a:spcBef>
                <a:spcPts val="1200"/>
              </a:spcBef>
              <a:spcAft>
                <a:spcPts val="0"/>
              </a:spcAft>
              <a:buClr>
                <a:schemeClr val="dk1"/>
              </a:buClr>
              <a:buSzPct val="100000"/>
              <a:buChar char="●"/>
            </a:pPr>
            <a:r>
              <a:rPr lang="en">
                <a:solidFill>
                  <a:schemeClr val="dk1"/>
                </a:solidFill>
              </a:rPr>
              <a:t>Omitted variables.</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Granularity of data.</a:t>
            </a:r>
            <a:endParaRPr>
              <a:solidFill>
                <a:schemeClr val="dk1"/>
              </a:solidFill>
            </a:endParaRPr>
          </a:p>
          <a:p>
            <a:pPr indent="-334327" lvl="0" marL="457200" rtl="0" algn="l">
              <a:spcBef>
                <a:spcPts val="0"/>
              </a:spcBef>
              <a:spcAft>
                <a:spcPts val="0"/>
              </a:spcAft>
              <a:buClr>
                <a:schemeClr val="dk1"/>
              </a:buClr>
              <a:buSzPct val="100000"/>
              <a:buChar char="●"/>
            </a:pPr>
            <a:r>
              <a:rPr lang="en">
                <a:solidFill>
                  <a:schemeClr val="dk1"/>
                </a:solidFill>
              </a:rPr>
              <a:t>Relaxing linearity assumption.</a:t>
            </a:r>
            <a:endParaRPr>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 </a:t>
            </a:r>
            <a:endParaRPr/>
          </a:p>
        </p:txBody>
      </p:sp>
      <p:sp>
        <p:nvSpPr>
          <p:cNvPr id="342" name="Google Shape;342;p45"/>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Any Questions?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